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varScale="1">
        <p:scale>
          <a:sx n="119" d="100"/>
          <a:sy n="119" d="100"/>
        </p:scale>
        <p:origin x="216"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1668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real-world problem: prior authorization appeals require staff to connect denial rationale, payer policy, and patient documentation.,My capstone turns that process into a bounded agentic workflow that can retrieve evidence, reason across alternatives, decide whether an appeal is supported, and draft only when appropriate.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not simply writing an appeal letter. It is deciding whether the appeal is supported in the first place.,That makes this a good agentic use case because the system needs to retrieve evidence, reason across it, enforce constraints, route cases differently, and verify its own output.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architecture.,The evidence agent retrieves case-specific policy and patient evidence. The thought generator creates alternative reasoning paths. The critic evaluates them, and the controller decides the next state.,Supported cases can reach the writer and verifier. Unsupported cases terminate without drafting. Uncertain or unresolved cases can escalate to human 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choice was not to let one model do everything.,RAG answers what evidence the system should reason from. Tree of Thoughts answers how to explore competing reasoning paths. The critic evaluates them, and LangGraph controls what happens next.,Deterministic code handles rules that should not depend on probabilistic generation.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layered rather than relying on a single instruction to the model.,The most important safeguard is the writer gate: an unsupported decision cannot enter appeal drafting.,Human review is targeted to uncertainty and unresolved failures rather than being required at every internal step. External submission remains a human responsibility.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evaluated the system with synthetic end-to-end scenarios that included both supported and unsupported policy situations.,The important result is behavioral: the system does not simply generate a letter every time. It can distinguish when evidence supports an appeal and when the safe action is to stop.,This is functional proof-of-concept evaluation, not clinical or production validation.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implementation is available in the public GitHub repository.,The notebook contains the RAG pipeline, LangGraph state machine, Tree-of-Thought generation and critique, deterministic checks, verification, human-review routing, MCP wrapper, and Gradio interface.,The repository also includes the architecture diagram and demonstration outputs so the system can be reviewed without first reading every code cell.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main takeaway is that autonomy should be bounded by evidence, deterministic controls, and explicit escalation.,The prototype works as a coherent proof of concept, but real-world deployment would require broader evaluation, live policy versioning, privacy and security controls, and deeper integration with healthcare workflows.,A future architectural improvement would be richer conditional outcomes and feedback paths between nodes, making the graph less pipeline-like while preserving bounded autonomy.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A6192E"/>
          </a:solidFill>
          <a:ln w="12700">
            <a:solidFill>
              <a:srgbClr val="A6192E"/>
            </a:solidFill>
            <a:prstDash val="solid"/>
          </a:ln>
        </p:spPr>
      </p:sp>
      <p:sp>
        <p:nvSpPr>
          <p:cNvPr id="3" name="Text 1"/>
          <p:cNvSpPr/>
          <p:nvPr/>
        </p:nvSpPr>
        <p:spPr>
          <a:xfrm>
            <a:off x="502920" y="6473952"/>
            <a:ext cx="2743200" cy="164592"/>
          </a:xfrm>
          <a:prstGeom prst="rect">
            <a:avLst/>
          </a:prstGeom>
          <a:noFill/>
          <a:ln/>
        </p:spPr>
        <p:txBody>
          <a:bodyPr wrap="square" lIns="0" tIns="0" rIns="0" bIns="0" rtlCol="0" anchor="ctr"/>
          <a:lstStyle/>
          <a:p>
            <a:pPr marL="0" indent="0">
              <a:buNone/>
            </a:pPr>
            <a:r>
              <a:rPr lang="en-US" sz="800" dirty="0">
                <a:solidFill>
                  <a:srgbClr val="6B7280"/>
                </a:solidFill>
                <a:latin typeface="Aptos" pitchFamily="34" charset="0"/>
                <a:ea typeface="Aptos" pitchFamily="34" charset="-122"/>
                <a:cs typeface="Aptos" pitchFamily="34" charset="-120"/>
              </a:rPr>
              <a:t>AGENTIC AI CAPSTONE</a:t>
            </a:r>
            <a:endParaRPr lang="en-US" sz="800" dirty="0"/>
          </a:p>
        </p:txBody>
      </p:sp>
      <p:sp>
        <p:nvSpPr>
          <p:cNvPr id="4" name="Text 2"/>
          <p:cNvSpPr/>
          <p:nvPr/>
        </p:nvSpPr>
        <p:spPr>
          <a:xfrm>
            <a:off x="7498080" y="6473952"/>
            <a:ext cx="4160520" cy="164592"/>
          </a:xfrm>
          <a:prstGeom prst="rect">
            <a:avLst/>
          </a:prstGeom>
          <a:noFill/>
          <a:ln/>
        </p:spPr>
        <p:txBody>
          <a:bodyPr wrap="square" lIns="0" tIns="0" rIns="0" bIns="0" rtlCol="0" anchor="ctr"/>
          <a:lstStyle/>
          <a:p>
            <a:pPr marL="0" indent="0" algn="r">
              <a:buNone/>
            </a:pPr>
            <a:r>
              <a:rPr lang="en-US" sz="800" dirty="0">
                <a:solidFill>
                  <a:srgbClr val="9CA3AF"/>
                </a:solidFill>
                <a:latin typeface="Aptos" pitchFamily="34" charset="0"/>
                <a:ea typeface="Aptos" pitchFamily="34" charset="-122"/>
                <a:cs typeface="Aptos" pitchFamily="34" charset="-120"/>
              </a:rPr>
              <a:t>Prior Authorization &amp; Insurance Appeals Advocate</a:t>
            </a:r>
            <a:endParaRPr lang="en-US" sz="8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CA3AF"/>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CA3AF"/>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109728"/>
            <a:ext cx="12191695" cy="6400800"/>
          </a:xfrm>
          <a:prstGeom prst="rect">
            <a:avLst/>
          </a:prstGeom>
          <a:solidFill>
            <a:srgbClr val="0B3558"/>
          </a:solidFill>
          <a:ln w="12700">
            <a:solidFill>
              <a:srgbClr val="0B3558"/>
            </a:solidFill>
            <a:prstDash val="solid"/>
          </a:ln>
        </p:spPr>
      </p:sp>
      <p:sp>
        <p:nvSpPr>
          <p:cNvPr id="3" name="Shape 1"/>
          <p:cNvSpPr/>
          <p:nvPr/>
        </p:nvSpPr>
        <p:spPr>
          <a:xfrm>
            <a:off x="0" y="5303520"/>
            <a:ext cx="12191695" cy="1207008"/>
          </a:xfrm>
          <a:prstGeom prst="rect">
            <a:avLst/>
          </a:prstGeom>
          <a:solidFill>
            <a:srgbClr val="A6192E">
              <a:alpha val="96000"/>
            </a:srgbClr>
          </a:solidFill>
          <a:ln w="12700">
            <a:solidFill>
              <a:srgbClr val="A6192E">
                <a:alpha val="0"/>
              </a:srgbClr>
            </a:solidFill>
            <a:prstDash val="solid"/>
          </a:ln>
        </p:spPr>
      </p:sp>
      <p:sp>
        <p:nvSpPr>
          <p:cNvPr id="4" name="Text 2"/>
          <p:cNvSpPr/>
          <p:nvPr/>
        </p:nvSpPr>
        <p:spPr>
          <a:xfrm>
            <a:off x="777240" y="1097280"/>
            <a:ext cx="7955280" cy="1325880"/>
          </a:xfrm>
          <a:prstGeom prst="rect">
            <a:avLst/>
          </a:prstGeom>
          <a:noFill/>
          <a:ln/>
        </p:spPr>
        <p:txBody>
          <a:bodyPr wrap="square" lIns="0" tIns="0" rIns="0" bIns="0" rtlCol="0" anchor="ctr"/>
          <a:lstStyle/>
          <a:p>
            <a:pPr marL="0" indent="0">
              <a:buNone/>
            </a:pPr>
            <a:r>
              <a:rPr lang="en-US" sz="3400" b="1" dirty="0">
                <a:solidFill>
                  <a:srgbClr val="FFFFFF"/>
                </a:solidFill>
              </a:rPr>
              <a:t>Prior Authorization &amp;</a:t>
            </a:r>
            <a:endParaRPr lang="en-US" sz="3400" dirty="0"/>
          </a:p>
          <a:p>
            <a:pPr marL="0" indent="0">
              <a:buNone/>
            </a:pPr>
            <a:r>
              <a:rPr lang="en-US" sz="3400" b="1" dirty="0">
                <a:solidFill>
                  <a:srgbClr val="FFFFFF"/>
                </a:solidFill>
              </a:rPr>
              <a:t>Insurance Appeals Advocate</a:t>
            </a:r>
            <a:endParaRPr lang="en-US" sz="3400" dirty="0"/>
          </a:p>
        </p:txBody>
      </p:sp>
      <p:sp>
        <p:nvSpPr>
          <p:cNvPr id="5" name="Text 3"/>
          <p:cNvSpPr/>
          <p:nvPr/>
        </p:nvSpPr>
        <p:spPr>
          <a:xfrm>
            <a:off x="804672" y="2697480"/>
            <a:ext cx="7772400" cy="640080"/>
          </a:xfrm>
          <a:prstGeom prst="rect">
            <a:avLst/>
          </a:prstGeom>
          <a:noFill/>
          <a:ln/>
        </p:spPr>
        <p:txBody>
          <a:bodyPr wrap="square" lIns="0" tIns="0" rIns="0" bIns="0" rtlCol="0" anchor="ctr"/>
          <a:lstStyle/>
          <a:p>
            <a:pPr marL="0" indent="0">
              <a:buNone/>
            </a:pPr>
            <a:r>
              <a:rPr lang="en-US" sz="1700" dirty="0">
                <a:solidFill>
                  <a:srgbClr val="DCE7F0"/>
                </a:solidFill>
              </a:rPr>
              <a:t>An evidence-grounded agentic AI system for safer prior authorization review and appeal drafting</a:t>
            </a:r>
            <a:endParaRPr lang="en-US" sz="1700" dirty="0"/>
          </a:p>
        </p:txBody>
      </p:sp>
      <p:sp>
        <p:nvSpPr>
          <p:cNvPr id="6" name="Shape 4"/>
          <p:cNvSpPr/>
          <p:nvPr/>
        </p:nvSpPr>
        <p:spPr>
          <a:xfrm>
            <a:off x="804672" y="3657600"/>
            <a:ext cx="1143000" cy="329184"/>
          </a:xfrm>
          <a:prstGeom prst="roundRect">
            <a:avLst>
              <a:gd name="adj" fmla="val 22222"/>
            </a:avLst>
          </a:prstGeom>
          <a:solidFill>
            <a:srgbClr val="DDEAF5"/>
          </a:solidFill>
          <a:ln w="12700">
            <a:solidFill>
              <a:srgbClr val="DDEAF5"/>
            </a:solidFill>
            <a:prstDash val="solid"/>
          </a:ln>
        </p:spPr>
      </p:sp>
      <p:sp>
        <p:nvSpPr>
          <p:cNvPr id="7" name="Text 5"/>
          <p:cNvSpPr/>
          <p:nvPr/>
        </p:nvSpPr>
        <p:spPr>
          <a:xfrm>
            <a:off x="877824" y="3730752"/>
            <a:ext cx="996696" cy="146304"/>
          </a:xfrm>
          <a:prstGeom prst="rect">
            <a:avLst/>
          </a:prstGeom>
          <a:noFill/>
          <a:ln/>
        </p:spPr>
        <p:txBody>
          <a:bodyPr wrap="square" lIns="0" tIns="0" rIns="0" bIns="0" rtlCol="0" anchor="ctr"/>
          <a:lstStyle/>
          <a:p>
            <a:pPr marL="0" indent="0" algn="ctr">
              <a:buNone/>
            </a:pPr>
            <a:r>
              <a:rPr lang="en-US" sz="950" b="1" dirty="0">
                <a:solidFill>
                  <a:srgbClr val="0B3558"/>
                </a:solidFill>
              </a:rPr>
              <a:t>RAG</a:t>
            </a:r>
            <a:endParaRPr lang="en-US" sz="950" dirty="0"/>
          </a:p>
        </p:txBody>
      </p:sp>
      <p:sp>
        <p:nvSpPr>
          <p:cNvPr id="8" name="Shape 6"/>
          <p:cNvSpPr/>
          <p:nvPr/>
        </p:nvSpPr>
        <p:spPr>
          <a:xfrm>
            <a:off x="2057400" y="3657600"/>
            <a:ext cx="1645920" cy="329184"/>
          </a:xfrm>
          <a:prstGeom prst="roundRect">
            <a:avLst>
              <a:gd name="adj" fmla="val 22222"/>
            </a:avLst>
          </a:prstGeom>
          <a:solidFill>
            <a:srgbClr val="E9E4FA"/>
          </a:solidFill>
          <a:ln w="12700">
            <a:solidFill>
              <a:srgbClr val="E9E4FA"/>
            </a:solidFill>
            <a:prstDash val="solid"/>
          </a:ln>
        </p:spPr>
      </p:sp>
      <p:sp>
        <p:nvSpPr>
          <p:cNvPr id="9" name="Text 7"/>
          <p:cNvSpPr/>
          <p:nvPr/>
        </p:nvSpPr>
        <p:spPr>
          <a:xfrm>
            <a:off x="2130552" y="3730752"/>
            <a:ext cx="1499616" cy="146304"/>
          </a:xfrm>
          <a:prstGeom prst="rect">
            <a:avLst/>
          </a:prstGeom>
          <a:noFill/>
          <a:ln/>
        </p:spPr>
        <p:txBody>
          <a:bodyPr wrap="square" lIns="0" tIns="0" rIns="0" bIns="0" rtlCol="0" anchor="ctr"/>
          <a:lstStyle/>
          <a:p>
            <a:pPr marL="0" indent="0" algn="ctr">
              <a:buNone/>
            </a:pPr>
            <a:r>
              <a:rPr lang="en-US" sz="950" b="1" dirty="0">
                <a:solidFill>
                  <a:srgbClr val="6554C0"/>
                </a:solidFill>
              </a:rPr>
              <a:t>Tree of Thoughts</a:t>
            </a:r>
            <a:endParaRPr lang="en-US" sz="950" dirty="0"/>
          </a:p>
        </p:txBody>
      </p:sp>
      <p:sp>
        <p:nvSpPr>
          <p:cNvPr id="10" name="Shape 8"/>
          <p:cNvSpPr/>
          <p:nvPr/>
        </p:nvSpPr>
        <p:spPr>
          <a:xfrm>
            <a:off x="3822192" y="3657600"/>
            <a:ext cx="1600200" cy="329184"/>
          </a:xfrm>
          <a:prstGeom prst="roundRect">
            <a:avLst>
              <a:gd name="adj" fmla="val 22222"/>
            </a:avLst>
          </a:prstGeom>
          <a:solidFill>
            <a:srgbClr val="E3F3F1"/>
          </a:solidFill>
          <a:ln w="12700">
            <a:solidFill>
              <a:srgbClr val="E3F3F1"/>
            </a:solidFill>
            <a:prstDash val="solid"/>
          </a:ln>
        </p:spPr>
      </p:sp>
      <p:sp>
        <p:nvSpPr>
          <p:cNvPr id="11" name="Text 9"/>
          <p:cNvSpPr/>
          <p:nvPr/>
        </p:nvSpPr>
        <p:spPr>
          <a:xfrm>
            <a:off x="3895344" y="3730752"/>
            <a:ext cx="1453896" cy="146304"/>
          </a:xfrm>
          <a:prstGeom prst="rect">
            <a:avLst/>
          </a:prstGeom>
          <a:noFill/>
          <a:ln/>
        </p:spPr>
        <p:txBody>
          <a:bodyPr wrap="square" lIns="0" tIns="0" rIns="0" bIns="0" rtlCol="0" anchor="ctr"/>
          <a:lstStyle/>
          <a:p>
            <a:pPr marL="0" indent="0" algn="ctr">
              <a:buNone/>
            </a:pPr>
            <a:r>
              <a:rPr lang="en-US" sz="950" b="1" dirty="0">
                <a:solidFill>
                  <a:srgbClr val="167D7F"/>
                </a:solidFill>
              </a:rPr>
              <a:t>Multi-Agent</a:t>
            </a:r>
            <a:endParaRPr lang="en-US" sz="950" dirty="0"/>
          </a:p>
        </p:txBody>
      </p:sp>
      <p:sp>
        <p:nvSpPr>
          <p:cNvPr id="12" name="Shape 10"/>
          <p:cNvSpPr/>
          <p:nvPr/>
        </p:nvSpPr>
        <p:spPr>
          <a:xfrm>
            <a:off x="5532120" y="3657600"/>
            <a:ext cx="1325880" cy="329184"/>
          </a:xfrm>
          <a:prstGeom prst="roundRect">
            <a:avLst>
              <a:gd name="adj" fmla="val 22222"/>
            </a:avLst>
          </a:prstGeom>
          <a:solidFill>
            <a:srgbClr val="F9E7E8"/>
          </a:solidFill>
          <a:ln w="12700">
            <a:solidFill>
              <a:srgbClr val="F9E7E8"/>
            </a:solidFill>
            <a:prstDash val="solid"/>
          </a:ln>
        </p:spPr>
      </p:sp>
      <p:sp>
        <p:nvSpPr>
          <p:cNvPr id="13" name="Text 11"/>
          <p:cNvSpPr/>
          <p:nvPr/>
        </p:nvSpPr>
        <p:spPr>
          <a:xfrm>
            <a:off x="5605272" y="3730752"/>
            <a:ext cx="1179576" cy="146304"/>
          </a:xfrm>
          <a:prstGeom prst="rect">
            <a:avLst/>
          </a:prstGeom>
          <a:noFill/>
          <a:ln/>
        </p:spPr>
        <p:txBody>
          <a:bodyPr wrap="square" lIns="0" tIns="0" rIns="0" bIns="0" rtlCol="0" anchor="ctr"/>
          <a:lstStyle/>
          <a:p>
            <a:pPr marL="0" indent="0" algn="ctr">
              <a:buNone/>
            </a:pPr>
            <a:r>
              <a:rPr lang="en-US" sz="950" b="1" dirty="0">
                <a:solidFill>
                  <a:srgbClr val="A6192E"/>
                </a:solidFill>
              </a:rPr>
              <a:t>Guardrails</a:t>
            </a:r>
            <a:endParaRPr lang="en-US" sz="950" dirty="0"/>
          </a:p>
        </p:txBody>
      </p:sp>
      <p:sp>
        <p:nvSpPr>
          <p:cNvPr id="14" name="Shape 12"/>
          <p:cNvSpPr/>
          <p:nvPr/>
        </p:nvSpPr>
        <p:spPr>
          <a:xfrm>
            <a:off x="6976872" y="3657600"/>
            <a:ext cx="1508760" cy="329184"/>
          </a:xfrm>
          <a:prstGeom prst="roundRect">
            <a:avLst>
              <a:gd name="adj" fmla="val 22222"/>
            </a:avLst>
          </a:prstGeom>
          <a:solidFill>
            <a:srgbClr val="EAF6EC"/>
          </a:solidFill>
          <a:ln w="12700">
            <a:solidFill>
              <a:srgbClr val="EAF6EC"/>
            </a:solidFill>
            <a:prstDash val="solid"/>
          </a:ln>
        </p:spPr>
      </p:sp>
      <p:sp>
        <p:nvSpPr>
          <p:cNvPr id="15" name="Text 13"/>
          <p:cNvSpPr/>
          <p:nvPr/>
        </p:nvSpPr>
        <p:spPr>
          <a:xfrm>
            <a:off x="7050024" y="3730752"/>
            <a:ext cx="1362456" cy="146304"/>
          </a:xfrm>
          <a:prstGeom prst="rect">
            <a:avLst/>
          </a:prstGeom>
          <a:noFill/>
          <a:ln/>
        </p:spPr>
        <p:txBody>
          <a:bodyPr wrap="square" lIns="0" tIns="0" rIns="0" bIns="0" rtlCol="0" anchor="ctr"/>
          <a:lstStyle/>
          <a:p>
            <a:pPr marL="0" indent="0" algn="ctr">
              <a:buNone/>
            </a:pPr>
            <a:r>
              <a:rPr lang="en-US" sz="950" b="1" dirty="0">
                <a:solidFill>
                  <a:srgbClr val="2E7D32"/>
                </a:solidFill>
              </a:rPr>
              <a:t>Human Review</a:t>
            </a:r>
            <a:endParaRPr lang="en-US" sz="950" dirty="0"/>
          </a:p>
        </p:txBody>
      </p:sp>
      <p:sp>
        <p:nvSpPr>
          <p:cNvPr id="16" name="Text 14"/>
          <p:cNvSpPr/>
          <p:nvPr/>
        </p:nvSpPr>
        <p:spPr>
          <a:xfrm>
            <a:off x="804672" y="5779008"/>
            <a:ext cx="5703704" cy="320040"/>
          </a:xfrm>
          <a:prstGeom prst="rect">
            <a:avLst/>
          </a:prstGeom>
          <a:noFill/>
          <a:ln/>
        </p:spPr>
        <p:txBody>
          <a:bodyPr wrap="square" lIns="0" tIns="0" rIns="0" bIns="0" rtlCol="0" anchor="ctr"/>
          <a:lstStyle/>
          <a:p>
            <a:pPr marL="0" indent="0">
              <a:buNone/>
            </a:pPr>
            <a:r>
              <a:rPr lang="en-US" sz="1400" dirty="0">
                <a:solidFill>
                  <a:srgbClr val="FFFFFF"/>
                </a:solidFill>
              </a:rPr>
              <a:t>Saanjaana Rahman  |  Agentic AI Capstone | Carnegie Mellon University</a:t>
            </a:r>
            <a:endParaRPr lang="en-US" sz="14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CA3AF"/>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1064240" cy="438912"/>
          </a:xfrm>
          <a:prstGeom prst="rect">
            <a:avLst/>
          </a:prstGeom>
          <a:noFill/>
          <a:ln/>
        </p:spPr>
        <p:txBody>
          <a:bodyPr wrap="square" lIns="0" tIns="0" rIns="0" bIns="0" rtlCol="0" anchor="ctr"/>
          <a:lstStyle/>
          <a:p>
            <a:pPr marL="0" indent="0">
              <a:buNone/>
            </a:pPr>
            <a:r>
              <a:rPr lang="en-US" sz="2700" b="1" dirty="0">
                <a:solidFill>
                  <a:srgbClr val="0B3558"/>
                </a:solidFill>
              </a:rPr>
              <a:t>Why this problem matters: high-friction review under evidence constraints</a:t>
            </a:r>
            <a:endParaRPr lang="en-US" sz="2700" dirty="0"/>
          </a:p>
        </p:txBody>
      </p:sp>
      <p:sp>
        <p:nvSpPr>
          <p:cNvPr id="3" name="Text 1"/>
          <p:cNvSpPr/>
          <p:nvPr/>
        </p:nvSpPr>
        <p:spPr>
          <a:xfrm>
            <a:off x="566928" y="822960"/>
            <a:ext cx="10789920" cy="320040"/>
          </a:xfrm>
          <a:prstGeom prst="rect">
            <a:avLst/>
          </a:prstGeom>
          <a:noFill/>
          <a:ln/>
        </p:spPr>
        <p:txBody>
          <a:bodyPr wrap="square" lIns="0" tIns="0" rIns="0" bIns="0" rtlCol="0" anchor="ctr"/>
          <a:lstStyle/>
          <a:p>
            <a:pPr marL="0" indent="0">
              <a:buNone/>
            </a:pPr>
            <a:r>
              <a:rPr lang="en-US" sz="1250" dirty="0">
                <a:solidFill>
                  <a:srgbClr val="667085"/>
                </a:solidFill>
              </a:rPr>
              <a:t>Intended users: clinic administrators, medical billers, utilization-management staff, and physicians</a:t>
            </a:r>
            <a:endParaRPr lang="en-US" sz="1250" dirty="0"/>
          </a:p>
        </p:txBody>
      </p:sp>
      <p:sp>
        <p:nvSpPr>
          <p:cNvPr id="4" name="Shape 2"/>
          <p:cNvSpPr/>
          <p:nvPr/>
        </p:nvSpPr>
        <p:spPr>
          <a:xfrm>
            <a:off x="594360" y="1371600"/>
            <a:ext cx="3520440" cy="4160520"/>
          </a:xfrm>
          <a:prstGeom prst="roundRect">
            <a:avLst>
              <a:gd name="adj" fmla="val 2078"/>
            </a:avLst>
          </a:prstGeom>
          <a:solidFill>
            <a:srgbClr val="FFFFFF"/>
          </a:solidFill>
          <a:ln w="12700">
            <a:solidFill>
              <a:srgbClr val="D8DEE7"/>
            </a:solidFill>
            <a:prstDash val="solid"/>
          </a:ln>
        </p:spPr>
      </p:sp>
      <p:sp>
        <p:nvSpPr>
          <p:cNvPr id="5" name="Shape 3"/>
          <p:cNvSpPr/>
          <p:nvPr/>
        </p:nvSpPr>
        <p:spPr>
          <a:xfrm>
            <a:off x="594360" y="1371600"/>
            <a:ext cx="64008" cy="4160520"/>
          </a:xfrm>
          <a:prstGeom prst="rect">
            <a:avLst/>
          </a:prstGeom>
          <a:solidFill>
            <a:srgbClr val="A6192E"/>
          </a:solidFill>
          <a:ln w="12700">
            <a:solidFill>
              <a:srgbClr val="A6192E"/>
            </a:solidFill>
            <a:prstDash val="solid"/>
          </a:ln>
        </p:spPr>
      </p:sp>
      <p:sp>
        <p:nvSpPr>
          <p:cNvPr id="6" name="Text 4"/>
          <p:cNvSpPr/>
          <p:nvPr/>
        </p:nvSpPr>
        <p:spPr>
          <a:xfrm>
            <a:off x="795528" y="1536192"/>
            <a:ext cx="3200400" cy="256032"/>
          </a:xfrm>
          <a:prstGeom prst="rect">
            <a:avLst/>
          </a:prstGeom>
          <a:noFill/>
          <a:ln/>
        </p:spPr>
        <p:txBody>
          <a:bodyPr wrap="square" lIns="0" tIns="0" rIns="0" bIns="0" rtlCol="0" anchor="ctr"/>
          <a:lstStyle/>
          <a:p>
            <a:pPr marL="0" indent="0">
              <a:buNone/>
            </a:pPr>
            <a:r>
              <a:rPr lang="en-US" sz="1500" b="1" dirty="0">
                <a:solidFill>
                  <a:srgbClr val="0B3558"/>
                </a:solidFill>
              </a:rPr>
              <a:t>1  Fragmented evidence</a:t>
            </a:r>
            <a:endParaRPr lang="en-US" sz="1500" dirty="0"/>
          </a:p>
        </p:txBody>
      </p:sp>
      <p:sp>
        <p:nvSpPr>
          <p:cNvPr id="7" name="Text 5"/>
          <p:cNvSpPr/>
          <p:nvPr/>
        </p:nvSpPr>
        <p:spPr>
          <a:xfrm>
            <a:off x="795528" y="1901952"/>
            <a:ext cx="3172968" cy="3502152"/>
          </a:xfrm>
          <a:prstGeom prst="rect">
            <a:avLst/>
          </a:prstGeom>
          <a:noFill/>
          <a:ln/>
        </p:spPr>
        <p:txBody>
          <a:bodyPr wrap="square" lIns="0" tIns="0" rIns="0" bIns="0" rtlCol="0" anchor="t">
            <a:normAutofit/>
          </a:bodyPr>
          <a:lstStyle/>
          <a:p>
            <a:pPr marL="0" indent="0">
              <a:buNone/>
            </a:pPr>
            <a:r>
              <a:rPr lang="en-US" sz="1150" dirty="0">
                <a:solidFill>
                  <a:srgbClr val="667085"/>
                </a:solidFill>
              </a:rPr>
              <a:t>Denial rationale, payer criteria, clinical documentation, treatment history, and supporting records live in different places. Staff must reconcile them manually.</a:t>
            </a:r>
            <a:endParaRPr lang="en-US" sz="1150" dirty="0"/>
          </a:p>
        </p:txBody>
      </p:sp>
      <p:sp>
        <p:nvSpPr>
          <p:cNvPr id="8" name="Shape 6"/>
          <p:cNvSpPr/>
          <p:nvPr/>
        </p:nvSpPr>
        <p:spPr>
          <a:xfrm>
            <a:off x="4343400" y="1371600"/>
            <a:ext cx="3520440" cy="4160520"/>
          </a:xfrm>
          <a:prstGeom prst="roundRect">
            <a:avLst>
              <a:gd name="adj" fmla="val 2078"/>
            </a:avLst>
          </a:prstGeom>
          <a:solidFill>
            <a:srgbClr val="FFFFFF"/>
          </a:solidFill>
          <a:ln w="12700">
            <a:solidFill>
              <a:srgbClr val="D8DEE7"/>
            </a:solidFill>
            <a:prstDash val="solid"/>
          </a:ln>
        </p:spPr>
      </p:sp>
      <p:sp>
        <p:nvSpPr>
          <p:cNvPr id="9" name="Shape 7"/>
          <p:cNvSpPr/>
          <p:nvPr/>
        </p:nvSpPr>
        <p:spPr>
          <a:xfrm>
            <a:off x="4343400" y="1371600"/>
            <a:ext cx="64008" cy="4160520"/>
          </a:xfrm>
          <a:prstGeom prst="rect">
            <a:avLst/>
          </a:prstGeom>
          <a:solidFill>
            <a:srgbClr val="C47F00"/>
          </a:solidFill>
          <a:ln w="12700">
            <a:solidFill>
              <a:srgbClr val="C47F00"/>
            </a:solidFill>
            <a:prstDash val="solid"/>
          </a:ln>
        </p:spPr>
      </p:sp>
      <p:sp>
        <p:nvSpPr>
          <p:cNvPr id="10" name="Text 8"/>
          <p:cNvSpPr/>
          <p:nvPr/>
        </p:nvSpPr>
        <p:spPr>
          <a:xfrm>
            <a:off x="4544568" y="1536192"/>
            <a:ext cx="3200400" cy="256032"/>
          </a:xfrm>
          <a:prstGeom prst="rect">
            <a:avLst/>
          </a:prstGeom>
          <a:noFill/>
          <a:ln/>
        </p:spPr>
        <p:txBody>
          <a:bodyPr wrap="square" lIns="0" tIns="0" rIns="0" bIns="0" rtlCol="0" anchor="ctr"/>
          <a:lstStyle/>
          <a:p>
            <a:pPr marL="0" indent="0">
              <a:buNone/>
            </a:pPr>
            <a:r>
              <a:rPr lang="en-US" sz="1500" b="1" dirty="0">
                <a:solidFill>
                  <a:srgbClr val="0B3558"/>
                </a:solidFill>
              </a:rPr>
              <a:t>2  High cognitive burden</a:t>
            </a:r>
            <a:endParaRPr lang="en-US" sz="1500" dirty="0"/>
          </a:p>
        </p:txBody>
      </p:sp>
      <p:sp>
        <p:nvSpPr>
          <p:cNvPr id="11" name="Text 9"/>
          <p:cNvSpPr/>
          <p:nvPr/>
        </p:nvSpPr>
        <p:spPr>
          <a:xfrm>
            <a:off x="4544568" y="1901952"/>
            <a:ext cx="3172968" cy="3502152"/>
          </a:xfrm>
          <a:prstGeom prst="rect">
            <a:avLst/>
          </a:prstGeom>
          <a:noFill/>
          <a:ln/>
        </p:spPr>
        <p:txBody>
          <a:bodyPr wrap="square" lIns="0" tIns="0" rIns="0" bIns="0" rtlCol="0" anchor="t">
            <a:normAutofit/>
          </a:bodyPr>
          <a:lstStyle/>
          <a:p>
            <a:pPr marL="0" indent="0">
              <a:buNone/>
            </a:pPr>
            <a:r>
              <a:rPr lang="en-US" sz="1150" dirty="0">
                <a:solidFill>
                  <a:srgbClr val="667085"/>
                </a:solidFill>
              </a:rPr>
              <a:t>The reviewer must determine what the policy actually requires, whether the record satisfies it, and what is missing, without introducing unsupported claims.</a:t>
            </a:r>
            <a:endParaRPr lang="en-US" sz="1150" dirty="0"/>
          </a:p>
        </p:txBody>
      </p:sp>
      <p:sp>
        <p:nvSpPr>
          <p:cNvPr id="12" name="Shape 10"/>
          <p:cNvSpPr/>
          <p:nvPr/>
        </p:nvSpPr>
        <p:spPr>
          <a:xfrm>
            <a:off x="8092440" y="1371600"/>
            <a:ext cx="3520440" cy="4160520"/>
          </a:xfrm>
          <a:prstGeom prst="roundRect">
            <a:avLst>
              <a:gd name="adj" fmla="val 2078"/>
            </a:avLst>
          </a:prstGeom>
          <a:solidFill>
            <a:srgbClr val="FFFFFF"/>
          </a:solidFill>
          <a:ln w="12700">
            <a:solidFill>
              <a:srgbClr val="D8DEE7"/>
            </a:solidFill>
            <a:prstDash val="solid"/>
          </a:ln>
        </p:spPr>
      </p:sp>
      <p:sp>
        <p:nvSpPr>
          <p:cNvPr id="13" name="Shape 11"/>
          <p:cNvSpPr/>
          <p:nvPr/>
        </p:nvSpPr>
        <p:spPr>
          <a:xfrm>
            <a:off x="8092440" y="1371600"/>
            <a:ext cx="64008" cy="4160520"/>
          </a:xfrm>
          <a:prstGeom prst="rect">
            <a:avLst/>
          </a:prstGeom>
          <a:solidFill>
            <a:srgbClr val="167D7F"/>
          </a:solidFill>
          <a:ln w="12700">
            <a:solidFill>
              <a:srgbClr val="167D7F"/>
            </a:solidFill>
            <a:prstDash val="solid"/>
          </a:ln>
        </p:spPr>
      </p:sp>
      <p:sp>
        <p:nvSpPr>
          <p:cNvPr id="14" name="Text 12"/>
          <p:cNvSpPr/>
          <p:nvPr/>
        </p:nvSpPr>
        <p:spPr>
          <a:xfrm>
            <a:off x="8293608" y="1536192"/>
            <a:ext cx="3200400" cy="256032"/>
          </a:xfrm>
          <a:prstGeom prst="rect">
            <a:avLst/>
          </a:prstGeom>
          <a:noFill/>
          <a:ln/>
        </p:spPr>
        <p:txBody>
          <a:bodyPr wrap="square" lIns="0" tIns="0" rIns="0" bIns="0" rtlCol="0" anchor="ctr"/>
          <a:lstStyle/>
          <a:p>
            <a:pPr marL="0" indent="0">
              <a:buNone/>
            </a:pPr>
            <a:r>
              <a:rPr lang="en-US" sz="1500" b="1" dirty="0">
                <a:solidFill>
                  <a:srgbClr val="0B3558"/>
                </a:solidFill>
              </a:rPr>
              <a:t>3  Consequential output</a:t>
            </a:r>
            <a:endParaRPr lang="en-US" sz="1500" dirty="0"/>
          </a:p>
        </p:txBody>
      </p:sp>
      <p:sp>
        <p:nvSpPr>
          <p:cNvPr id="15" name="Text 13"/>
          <p:cNvSpPr/>
          <p:nvPr/>
        </p:nvSpPr>
        <p:spPr>
          <a:xfrm>
            <a:off x="8293608" y="1901952"/>
            <a:ext cx="3172968" cy="3502152"/>
          </a:xfrm>
          <a:prstGeom prst="rect">
            <a:avLst/>
          </a:prstGeom>
          <a:noFill/>
          <a:ln/>
        </p:spPr>
        <p:txBody>
          <a:bodyPr wrap="square" lIns="0" tIns="0" rIns="0" bIns="0" rtlCol="0" anchor="t">
            <a:normAutofit/>
          </a:bodyPr>
          <a:lstStyle/>
          <a:p>
            <a:pPr marL="0" indent="0">
              <a:buNone/>
            </a:pPr>
            <a:r>
              <a:rPr lang="en-US" sz="1150" dirty="0">
                <a:solidFill>
                  <a:srgbClr val="667085"/>
                </a:solidFill>
              </a:rPr>
              <a:t>A persuasive letter is not enough. The system must know when NOT to appeal, when evidence is incomplete, and when a human must intervene.</a:t>
            </a:r>
            <a:endParaRPr lang="en-US" sz="1150" dirty="0"/>
          </a:p>
        </p:txBody>
      </p:sp>
      <p:sp>
        <p:nvSpPr>
          <p:cNvPr id="16" name="Text 14"/>
          <p:cNvSpPr/>
          <p:nvPr/>
        </p:nvSpPr>
        <p:spPr>
          <a:xfrm>
            <a:off x="658368" y="5760720"/>
            <a:ext cx="1554480" cy="274320"/>
          </a:xfrm>
          <a:prstGeom prst="rect">
            <a:avLst/>
          </a:prstGeom>
          <a:noFill/>
          <a:ln/>
        </p:spPr>
        <p:txBody>
          <a:bodyPr wrap="square" lIns="0" tIns="0" rIns="0" bIns="0" rtlCol="0" anchor="ctr"/>
          <a:lstStyle/>
          <a:p>
            <a:pPr marL="0" indent="0">
              <a:buNone/>
            </a:pPr>
            <a:r>
              <a:rPr lang="en-US" sz="1600" b="1" dirty="0">
                <a:solidFill>
                  <a:srgbClr val="0B3558"/>
                </a:solidFill>
              </a:rPr>
              <a:t>Why agentic AI?</a:t>
            </a:r>
            <a:endParaRPr lang="en-US" sz="1600" dirty="0"/>
          </a:p>
        </p:txBody>
      </p:sp>
      <p:sp>
        <p:nvSpPr>
          <p:cNvPr id="17" name="Text 15"/>
          <p:cNvSpPr/>
          <p:nvPr/>
        </p:nvSpPr>
        <p:spPr>
          <a:xfrm>
            <a:off x="2148840" y="5742432"/>
            <a:ext cx="8869680" cy="320040"/>
          </a:xfrm>
          <a:prstGeom prst="rect">
            <a:avLst/>
          </a:prstGeom>
          <a:noFill/>
          <a:ln/>
        </p:spPr>
        <p:txBody>
          <a:bodyPr wrap="square" lIns="0" tIns="0" rIns="0" bIns="0" rtlCol="0" anchor="ctr"/>
          <a:lstStyle/>
          <a:p>
            <a:pPr marL="0" indent="0">
              <a:buNone/>
            </a:pPr>
            <a:r>
              <a:rPr lang="en-US" sz="1500" dirty="0">
                <a:solidFill>
                  <a:srgbClr val="172033"/>
                </a:solidFill>
              </a:rPr>
              <a:t>The task requires retrieval + multi-step reasoning + tool use + conditional routing + verification—not just one prompt.</a:t>
            </a:r>
            <a:endParaRPr lang="en-US" sz="15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CA3AF"/>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1064240" cy="438912"/>
          </a:xfrm>
          <a:prstGeom prst="rect">
            <a:avLst/>
          </a:prstGeom>
          <a:noFill/>
          <a:ln/>
        </p:spPr>
        <p:txBody>
          <a:bodyPr wrap="square" lIns="0" tIns="0" rIns="0" bIns="0" rtlCol="0" anchor="ctr"/>
          <a:lstStyle/>
          <a:p>
            <a:pPr marL="0" indent="0">
              <a:buNone/>
            </a:pPr>
            <a:r>
              <a:rPr lang="en-US" sz="2700" b="1" dirty="0">
                <a:solidFill>
                  <a:srgbClr val="0B3558"/>
                </a:solidFill>
              </a:rPr>
              <a:t>System architecture</a:t>
            </a:r>
            <a:endParaRPr lang="en-US" sz="2700" dirty="0"/>
          </a:p>
        </p:txBody>
      </p:sp>
      <p:sp>
        <p:nvSpPr>
          <p:cNvPr id="3" name="Text 1"/>
          <p:cNvSpPr/>
          <p:nvPr/>
        </p:nvSpPr>
        <p:spPr>
          <a:xfrm>
            <a:off x="566928" y="822960"/>
            <a:ext cx="10789920" cy="320040"/>
          </a:xfrm>
          <a:prstGeom prst="rect">
            <a:avLst/>
          </a:prstGeom>
          <a:noFill/>
          <a:ln/>
        </p:spPr>
        <p:txBody>
          <a:bodyPr wrap="square" lIns="0" tIns="0" rIns="0" bIns="0" rtlCol="0" anchor="ctr"/>
          <a:lstStyle/>
          <a:p>
            <a:pPr marL="0" indent="0">
              <a:buNone/>
            </a:pPr>
            <a:r>
              <a:rPr lang="en-US" sz="1250" dirty="0">
                <a:solidFill>
                  <a:srgbClr val="667085"/>
                </a:solidFill>
              </a:rPr>
              <a:t>A stateful LangGraph workflow coordinates evidence retrieval, reasoning, decision control, verification, and human oversight</a:t>
            </a:r>
            <a:endParaRPr lang="en-US" sz="125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CA3AF"/>
                </a:solidFill>
              </a:defRPr>
            </a:lvl1pPr>
          </a:lstStyle>
          <a:p>
            <a:pPr algn="l"/>
            <a:fld id="{F7021451-1387-4CA6-816F-3879F97B5CBC}" type="slidenum">
              <a:rPr lang="en-US" b="0"/>
              <a:t>3</a:t>
            </a:fld>
            <a:endParaRPr lang="en-US"/>
          </a:p>
        </p:txBody>
      </p:sp>
      <p:pic>
        <p:nvPicPr>
          <p:cNvPr id="7" name="Picture 6">
            <a:extLst>
              <a:ext uri="{FF2B5EF4-FFF2-40B4-BE49-F238E27FC236}">
                <a16:creationId xmlns:a16="http://schemas.microsoft.com/office/drawing/2014/main" id="{DCE1BACA-97F5-B380-ECA4-27F270E59378}"/>
              </a:ext>
            </a:extLst>
          </p:cNvPr>
          <p:cNvPicPr>
            <a:picLocks noChangeAspect="1"/>
          </p:cNvPicPr>
          <p:nvPr/>
        </p:nvPicPr>
        <p:blipFill>
          <a:blip r:embed="rId3"/>
          <a:stretch>
            <a:fillRect/>
          </a:stretch>
        </p:blipFill>
        <p:spPr>
          <a:xfrm>
            <a:off x="1692537" y="1143000"/>
            <a:ext cx="7772400" cy="5181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64240" cy="438912"/>
          </a:xfrm>
          <a:prstGeom prst="rect">
            <a:avLst/>
          </a:prstGeom>
          <a:noFill/>
          <a:ln/>
        </p:spPr>
        <p:txBody>
          <a:bodyPr wrap="square" lIns="0" tIns="0" rIns="0" bIns="0" rtlCol="0" anchor="ctr"/>
          <a:lstStyle/>
          <a:p>
            <a:pPr marL="0" indent="0">
              <a:buNone/>
            </a:pPr>
            <a:r>
              <a:rPr lang="en-US" sz="2700" b="1" dirty="0">
                <a:solidFill>
                  <a:srgbClr val="0B3558"/>
                </a:solidFill>
              </a:rPr>
              <a:t>What makes the system agentic?</a:t>
            </a:r>
            <a:endParaRPr lang="en-US" sz="2700" dirty="0"/>
          </a:p>
        </p:txBody>
      </p:sp>
      <p:sp>
        <p:nvSpPr>
          <p:cNvPr id="3" name="Text 1"/>
          <p:cNvSpPr/>
          <p:nvPr/>
        </p:nvSpPr>
        <p:spPr>
          <a:xfrm>
            <a:off x="566928" y="822960"/>
            <a:ext cx="10789920" cy="320040"/>
          </a:xfrm>
          <a:prstGeom prst="rect">
            <a:avLst/>
          </a:prstGeom>
          <a:noFill/>
          <a:ln/>
        </p:spPr>
        <p:txBody>
          <a:bodyPr wrap="square" lIns="0" tIns="0" rIns="0" bIns="0" rtlCol="0" anchor="ctr"/>
          <a:lstStyle/>
          <a:p>
            <a:pPr marL="0" indent="0">
              <a:buNone/>
            </a:pPr>
            <a:r>
              <a:rPr lang="en-US" sz="1250" dirty="0">
                <a:solidFill>
                  <a:srgbClr val="667085"/>
                </a:solidFill>
              </a:rPr>
              <a:t>The LLM is one component inside a controlled reasoning and orchestration harness</a:t>
            </a:r>
            <a:endParaRPr lang="en-US" sz="1250" dirty="0"/>
          </a:p>
        </p:txBody>
      </p:sp>
      <p:sp>
        <p:nvSpPr>
          <p:cNvPr id="4" name="Shape 2"/>
          <p:cNvSpPr/>
          <p:nvPr/>
        </p:nvSpPr>
        <p:spPr>
          <a:xfrm>
            <a:off x="1051560" y="1417320"/>
            <a:ext cx="640080" cy="640080"/>
          </a:xfrm>
          <a:prstGeom prst="ellipse">
            <a:avLst/>
          </a:prstGeom>
          <a:solidFill>
            <a:srgbClr val="167D7F"/>
          </a:solidFill>
          <a:ln w="12700">
            <a:solidFill>
              <a:srgbClr val="167D7F"/>
            </a:solidFill>
            <a:prstDash val="solid"/>
          </a:ln>
        </p:spPr>
      </p:sp>
      <p:sp>
        <p:nvSpPr>
          <p:cNvPr id="5" name="Text 3"/>
          <p:cNvSpPr/>
          <p:nvPr/>
        </p:nvSpPr>
        <p:spPr>
          <a:xfrm>
            <a:off x="1051560" y="1572768"/>
            <a:ext cx="640080" cy="182880"/>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6" name="Shape 4"/>
          <p:cNvSpPr/>
          <p:nvPr/>
        </p:nvSpPr>
        <p:spPr>
          <a:xfrm>
            <a:off x="640080" y="2240280"/>
            <a:ext cx="1828800" cy="2377440"/>
          </a:xfrm>
          <a:prstGeom prst="roundRect">
            <a:avLst>
              <a:gd name="adj" fmla="val 4000"/>
            </a:avLst>
          </a:prstGeom>
          <a:solidFill>
            <a:srgbClr val="FFFFFF"/>
          </a:solidFill>
          <a:ln w="12700">
            <a:solidFill>
              <a:srgbClr val="D8DEE7"/>
            </a:solidFill>
            <a:prstDash val="solid"/>
          </a:ln>
        </p:spPr>
      </p:sp>
      <p:sp>
        <p:nvSpPr>
          <p:cNvPr id="7" name="Shape 5"/>
          <p:cNvSpPr/>
          <p:nvPr/>
        </p:nvSpPr>
        <p:spPr>
          <a:xfrm>
            <a:off x="640080" y="2240280"/>
            <a:ext cx="64008" cy="2377440"/>
          </a:xfrm>
          <a:prstGeom prst="rect">
            <a:avLst/>
          </a:prstGeom>
          <a:solidFill>
            <a:srgbClr val="167D7F"/>
          </a:solidFill>
          <a:ln w="12700">
            <a:solidFill>
              <a:srgbClr val="167D7F"/>
            </a:solidFill>
            <a:prstDash val="solid"/>
          </a:ln>
        </p:spPr>
      </p:sp>
      <p:sp>
        <p:nvSpPr>
          <p:cNvPr id="8" name="Text 6"/>
          <p:cNvSpPr/>
          <p:nvPr/>
        </p:nvSpPr>
        <p:spPr>
          <a:xfrm>
            <a:off x="841248" y="2404872"/>
            <a:ext cx="1508760" cy="256032"/>
          </a:xfrm>
          <a:prstGeom prst="rect">
            <a:avLst/>
          </a:prstGeom>
          <a:noFill/>
          <a:ln/>
        </p:spPr>
        <p:txBody>
          <a:bodyPr wrap="square" lIns="0" tIns="0" rIns="0" bIns="0" rtlCol="0" anchor="ctr"/>
          <a:lstStyle/>
          <a:p>
            <a:pPr marL="0" indent="0">
              <a:buNone/>
            </a:pPr>
            <a:r>
              <a:rPr lang="en-US" sz="1500" b="1" dirty="0">
                <a:solidFill>
                  <a:srgbClr val="0B3558"/>
                </a:solidFill>
              </a:rPr>
              <a:t>Retrieve</a:t>
            </a:r>
            <a:endParaRPr lang="en-US" sz="1500" dirty="0"/>
          </a:p>
        </p:txBody>
      </p:sp>
      <p:sp>
        <p:nvSpPr>
          <p:cNvPr id="9" name="Text 7"/>
          <p:cNvSpPr/>
          <p:nvPr/>
        </p:nvSpPr>
        <p:spPr>
          <a:xfrm>
            <a:off x="841248" y="2770632"/>
            <a:ext cx="1481328" cy="1719072"/>
          </a:xfrm>
          <a:prstGeom prst="rect">
            <a:avLst/>
          </a:prstGeom>
          <a:noFill/>
          <a:ln/>
        </p:spPr>
        <p:txBody>
          <a:bodyPr wrap="square" lIns="0" tIns="0" rIns="0" bIns="0" rtlCol="0" anchor="t">
            <a:normAutofit/>
          </a:bodyPr>
          <a:lstStyle/>
          <a:p>
            <a:pPr marL="0" indent="0">
              <a:buNone/>
            </a:pPr>
            <a:r>
              <a:rPr lang="en-US" sz="1150" dirty="0">
                <a:solidFill>
                  <a:srgbClr val="667085"/>
                </a:solidFill>
              </a:rPr>
              <a:t>RAG retrieves policy and patient evidence using case-aware metadata.</a:t>
            </a:r>
            <a:endParaRPr lang="en-US" sz="1150" dirty="0"/>
          </a:p>
        </p:txBody>
      </p:sp>
      <p:sp>
        <p:nvSpPr>
          <p:cNvPr id="10" name="Shape 8"/>
          <p:cNvSpPr/>
          <p:nvPr/>
        </p:nvSpPr>
        <p:spPr>
          <a:xfrm>
            <a:off x="2542032" y="3127248"/>
            <a:ext cx="320040" cy="457200"/>
          </a:xfrm>
          <a:prstGeom prst="chevron">
            <a:avLst/>
          </a:prstGeom>
          <a:solidFill>
            <a:srgbClr val="C9D3DF"/>
          </a:solidFill>
          <a:ln w="12700">
            <a:solidFill>
              <a:srgbClr val="C9D3DF"/>
            </a:solidFill>
            <a:prstDash val="solid"/>
          </a:ln>
        </p:spPr>
      </p:sp>
      <p:sp>
        <p:nvSpPr>
          <p:cNvPr id="11" name="Shape 9"/>
          <p:cNvSpPr/>
          <p:nvPr/>
        </p:nvSpPr>
        <p:spPr>
          <a:xfrm>
            <a:off x="3383280" y="1417320"/>
            <a:ext cx="640080" cy="640080"/>
          </a:xfrm>
          <a:prstGeom prst="ellipse">
            <a:avLst/>
          </a:prstGeom>
          <a:solidFill>
            <a:srgbClr val="6554C0"/>
          </a:solidFill>
          <a:ln w="12700">
            <a:solidFill>
              <a:srgbClr val="6554C0"/>
            </a:solidFill>
            <a:prstDash val="solid"/>
          </a:ln>
        </p:spPr>
      </p:sp>
      <p:sp>
        <p:nvSpPr>
          <p:cNvPr id="12" name="Text 10"/>
          <p:cNvSpPr/>
          <p:nvPr/>
        </p:nvSpPr>
        <p:spPr>
          <a:xfrm>
            <a:off x="3383280" y="1572768"/>
            <a:ext cx="640080" cy="182880"/>
          </a:xfrm>
          <a:prstGeom prst="rect">
            <a:avLst/>
          </a:prstGeom>
          <a:no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3" name="Shape 11"/>
          <p:cNvSpPr/>
          <p:nvPr/>
        </p:nvSpPr>
        <p:spPr>
          <a:xfrm>
            <a:off x="2971800" y="2240280"/>
            <a:ext cx="1828800" cy="2377440"/>
          </a:xfrm>
          <a:prstGeom prst="roundRect">
            <a:avLst>
              <a:gd name="adj" fmla="val 4000"/>
            </a:avLst>
          </a:prstGeom>
          <a:solidFill>
            <a:srgbClr val="FFFFFF"/>
          </a:solidFill>
          <a:ln w="12700">
            <a:solidFill>
              <a:srgbClr val="D8DEE7"/>
            </a:solidFill>
            <a:prstDash val="solid"/>
          </a:ln>
        </p:spPr>
      </p:sp>
      <p:sp>
        <p:nvSpPr>
          <p:cNvPr id="14" name="Shape 12"/>
          <p:cNvSpPr/>
          <p:nvPr/>
        </p:nvSpPr>
        <p:spPr>
          <a:xfrm>
            <a:off x="2971800" y="2240280"/>
            <a:ext cx="64008" cy="2377440"/>
          </a:xfrm>
          <a:prstGeom prst="rect">
            <a:avLst/>
          </a:prstGeom>
          <a:solidFill>
            <a:srgbClr val="6554C0"/>
          </a:solidFill>
          <a:ln w="12700">
            <a:solidFill>
              <a:srgbClr val="6554C0"/>
            </a:solidFill>
            <a:prstDash val="solid"/>
          </a:ln>
        </p:spPr>
      </p:sp>
      <p:sp>
        <p:nvSpPr>
          <p:cNvPr id="15" name="Text 13"/>
          <p:cNvSpPr/>
          <p:nvPr/>
        </p:nvSpPr>
        <p:spPr>
          <a:xfrm>
            <a:off x="3172968" y="2404872"/>
            <a:ext cx="1508760" cy="256032"/>
          </a:xfrm>
          <a:prstGeom prst="rect">
            <a:avLst/>
          </a:prstGeom>
          <a:noFill/>
          <a:ln/>
        </p:spPr>
        <p:txBody>
          <a:bodyPr wrap="square" lIns="0" tIns="0" rIns="0" bIns="0" rtlCol="0" anchor="ctr"/>
          <a:lstStyle/>
          <a:p>
            <a:pPr marL="0" indent="0">
              <a:buNone/>
            </a:pPr>
            <a:r>
              <a:rPr lang="en-US" sz="1500" b="1" dirty="0">
                <a:solidFill>
                  <a:srgbClr val="0B3558"/>
                </a:solidFill>
              </a:rPr>
              <a:t>Branch</a:t>
            </a:r>
            <a:endParaRPr lang="en-US" sz="1500" dirty="0"/>
          </a:p>
        </p:txBody>
      </p:sp>
      <p:sp>
        <p:nvSpPr>
          <p:cNvPr id="16" name="Text 14"/>
          <p:cNvSpPr/>
          <p:nvPr/>
        </p:nvSpPr>
        <p:spPr>
          <a:xfrm>
            <a:off x="3172968" y="2770632"/>
            <a:ext cx="1481328" cy="1719072"/>
          </a:xfrm>
          <a:prstGeom prst="rect">
            <a:avLst/>
          </a:prstGeom>
          <a:noFill/>
          <a:ln/>
        </p:spPr>
        <p:txBody>
          <a:bodyPr wrap="square" lIns="0" tIns="0" rIns="0" bIns="0" rtlCol="0" anchor="t">
            <a:normAutofit/>
          </a:bodyPr>
          <a:lstStyle/>
          <a:p>
            <a:pPr marL="0" indent="0">
              <a:buNone/>
            </a:pPr>
            <a:r>
              <a:rPr lang="en-US" sz="1150" dirty="0">
                <a:solidFill>
                  <a:srgbClr val="667085"/>
                </a:solidFill>
              </a:rPr>
              <a:t>Tree of Thoughts generates multiple candidate appeal pathways.</a:t>
            </a:r>
            <a:endParaRPr lang="en-US" sz="1150" dirty="0"/>
          </a:p>
        </p:txBody>
      </p:sp>
      <p:sp>
        <p:nvSpPr>
          <p:cNvPr id="17" name="Shape 15"/>
          <p:cNvSpPr/>
          <p:nvPr/>
        </p:nvSpPr>
        <p:spPr>
          <a:xfrm>
            <a:off x="4873752" y="3127248"/>
            <a:ext cx="320040" cy="457200"/>
          </a:xfrm>
          <a:prstGeom prst="chevron">
            <a:avLst/>
          </a:prstGeom>
          <a:solidFill>
            <a:srgbClr val="C9D3DF"/>
          </a:solidFill>
          <a:ln w="12700">
            <a:solidFill>
              <a:srgbClr val="C9D3DF"/>
            </a:solidFill>
            <a:prstDash val="solid"/>
          </a:ln>
        </p:spPr>
      </p:sp>
      <p:sp>
        <p:nvSpPr>
          <p:cNvPr id="18" name="Shape 16"/>
          <p:cNvSpPr/>
          <p:nvPr/>
        </p:nvSpPr>
        <p:spPr>
          <a:xfrm>
            <a:off x="5715000" y="1417320"/>
            <a:ext cx="640080" cy="640080"/>
          </a:xfrm>
          <a:prstGeom prst="ellipse">
            <a:avLst/>
          </a:prstGeom>
          <a:solidFill>
            <a:srgbClr val="C47F00"/>
          </a:solidFill>
          <a:ln w="12700">
            <a:solidFill>
              <a:srgbClr val="C47F00"/>
            </a:solidFill>
            <a:prstDash val="solid"/>
          </a:ln>
        </p:spPr>
      </p:sp>
      <p:sp>
        <p:nvSpPr>
          <p:cNvPr id="19" name="Text 17"/>
          <p:cNvSpPr/>
          <p:nvPr/>
        </p:nvSpPr>
        <p:spPr>
          <a:xfrm>
            <a:off x="5715000" y="1572768"/>
            <a:ext cx="640080" cy="182880"/>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20" name="Shape 18"/>
          <p:cNvSpPr/>
          <p:nvPr/>
        </p:nvSpPr>
        <p:spPr>
          <a:xfrm>
            <a:off x="5303520" y="2240280"/>
            <a:ext cx="1828800" cy="2377440"/>
          </a:xfrm>
          <a:prstGeom prst="roundRect">
            <a:avLst>
              <a:gd name="adj" fmla="val 4000"/>
            </a:avLst>
          </a:prstGeom>
          <a:solidFill>
            <a:srgbClr val="FFFFFF"/>
          </a:solidFill>
          <a:ln w="12700">
            <a:solidFill>
              <a:srgbClr val="D8DEE7"/>
            </a:solidFill>
            <a:prstDash val="solid"/>
          </a:ln>
        </p:spPr>
      </p:sp>
      <p:sp>
        <p:nvSpPr>
          <p:cNvPr id="21" name="Shape 19"/>
          <p:cNvSpPr/>
          <p:nvPr/>
        </p:nvSpPr>
        <p:spPr>
          <a:xfrm>
            <a:off x="5303520" y="2240280"/>
            <a:ext cx="64008" cy="2377440"/>
          </a:xfrm>
          <a:prstGeom prst="rect">
            <a:avLst/>
          </a:prstGeom>
          <a:solidFill>
            <a:srgbClr val="C47F00"/>
          </a:solidFill>
          <a:ln w="12700">
            <a:solidFill>
              <a:srgbClr val="C47F00"/>
            </a:solidFill>
            <a:prstDash val="solid"/>
          </a:ln>
        </p:spPr>
      </p:sp>
      <p:sp>
        <p:nvSpPr>
          <p:cNvPr id="22" name="Text 20"/>
          <p:cNvSpPr/>
          <p:nvPr/>
        </p:nvSpPr>
        <p:spPr>
          <a:xfrm>
            <a:off x="5504688" y="2404872"/>
            <a:ext cx="1508760" cy="256032"/>
          </a:xfrm>
          <a:prstGeom prst="rect">
            <a:avLst/>
          </a:prstGeom>
          <a:noFill/>
          <a:ln/>
        </p:spPr>
        <p:txBody>
          <a:bodyPr wrap="square" lIns="0" tIns="0" rIns="0" bIns="0" rtlCol="0" anchor="ctr"/>
          <a:lstStyle/>
          <a:p>
            <a:pPr marL="0" indent="0">
              <a:buNone/>
            </a:pPr>
            <a:r>
              <a:rPr lang="en-US" sz="1500" b="1" dirty="0">
                <a:solidFill>
                  <a:srgbClr val="0B3558"/>
                </a:solidFill>
              </a:rPr>
              <a:t>Critique</a:t>
            </a:r>
            <a:endParaRPr lang="en-US" sz="1500" dirty="0"/>
          </a:p>
        </p:txBody>
      </p:sp>
      <p:sp>
        <p:nvSpPr>
          <p:cNvPr id="23" name="Text 21"/>
          <p:cNvSpPr/>
          <p:nvPr/>
        </p:nvSpPr>
        <p:spPr>
          <a:xfrm>
            <a:off x="5504688" y="2770632"/>
            <a:ext cx="1481328" cy="1719072"/>
          </a:xfrm>
          <a:prstGeom prst="rect">
            <a:avLst/>
          </a:prstGeom>
          <a:noFill/>
          <a:ln/>
        </p:spPr>
        <p:txBody>
          <a:bodyPr wrap="square" lIns="0" tIns="0" rIns="0" bIns="0" rtlCol="0" anchor="t">
            <a:normAutofit/>
          </a:bodyPr>
          <a:lstStyle/>
          <a:p>
            <a:pPr marL="0" indent="0">
              <a:buNone/>
            </a:pPr>
            <a:r>
              <a:rPr lang="en-US" sz="1150" dirty="0">
                <a:solidFill>
                  <a:srgbClr val="667085"/>
                </a:solidFill>
              </a:rPr>
              <a:t>A critic scores clinical, policy, and logical validity.</a:t>
            </a:r>
            <a:endParaRPr lang="en-US" sz="1150" dirty="0"/>
          </a:p>
        </p:txBody>
      </p:sp>
      <p:sp>
        <p:nvSpPr>
          <p:cNvPr id="24" name="Shape 22"/>
          <p:cNvSpPr/>
          <p:nvPr/>
        </p:nvSpPr>
        <p:spPr>
          <a:xfrm>
            <a:off x="7205472" y="3127248"/>
            <a:ext cx="320040" cy="457200"/>
          </a:xfrm>
          <a:prstGeom prst="chevron">
            <a:avLst/>
          </a:prstGeom>
          <a:solidFill>
            <a:srgbClr val="C9D3DF"/>
          </a:solidFill>
          <a:ln w="12700">
            <a:solidFill>
              <a:srgbClr val="C9D3DF"/>
            </a:solidFill>
            <a:prstDash val="solid"/>
          </a:ln>
        </p:spPr>
      </p:sp>
      <p:sp>
        <p:nvSpPr>
          <p:cNvPr id="25" name="Shape 23"/>
          <p:cNvSpPr/>
          <p:nvPr/>
        </p:nvSpPr>
        <p:spPr>
          <a:xfrm>
            <a:off x="8046720" y="1417320"/>
            <a:ext cx="640080" cy="640080"/>
          </a:xfrm>
          <a:prstGeom prst="ellipse">
            <a:avLst/>
          </a:prstGeom>
          <a:solidFill>
            <a:srgbClr val="0B3558"/>
          </a:solidFill>
          <a:ln w="12700">
            <a:solidFill>
              <a:srgbClr val="0B3558"/>
            </a:solidFill>
            <a:prstDash val="solid"/>
          </a:ln>
        </p:spPr>
      </p:sp>
      <p:sp>
        <p:nvSpPr>
          <p:cNvPr id="26" name="Text 24"/>
          <p:cNvSpPr/>
          <p:nvPr/>
        </p:nvSpPr>
        <p:spPr>
          <a:xfrm>
            <a:off x="8046720" y="1572768"/>
            <a:ext cx="640080" cy="182880"/>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7" name="Shape 25"/>
          <p:cNvSpPr/>
          <p:nvPr/>
        </p:nvSpPr>
        <p:spPr>
          <a:xfrm>
            <a:off x="7635240" y="2240280"/>
            <a:ext cx="1828800" cy="2377440"/>
          </a:xfrm>
          <a:prstGeom prst="roundRect">
            <a:avLst>
              <a:gd name="adj" fmla="val 4000"/>
            </a:avLst>
          </a:prstGeom>
          <a:solidFill>
            <a:srgbClr val="FFFFFF"/>
          </a:solidFill>
          <a:ln w="12700">
            <a:solidFill>
              <a:srgbClr val="D8DEE7"/>
            </a:solidFill>
            <a:prstDash val="solid"/>
          </a:ln>
        </p:spPr>
      </p:sp>
      <p:sp>
        <p:nvSpPr>
          <p:cNvPr id="28" name="Shape 26"/>
          <p:cNvSpPr/>
          <p:nvPr/>
        </p:nvSpPr>
        <p:spPr>
          <a:xfrm>
            <a:off x="7635240" y="2240280"/>
            <a:ext cx="64008" cy="2377440"/>
          </a:xfrm>
          <a:prstGeom prst="rect">
            <a:avLst/>
          </a:prstGeom>
          <a:solidFill>
            <a:srgbClr val="0B3558"/>
          </a:solidFill>
          <a:ln w="12700">
            <a:solidFill>
              <a:srgbClr val="0B3558"/>
            </a:solidFill>
            <a:prstDash val="solid"/>
          </a:ln>
        </p:spPr>
      </p:sp>
      <p:sp>
        <p:nvSpPr>
          <p:cNvPr id="29" name="Text 27"/>
          <p:cNvSpPr/>
          <p:nvPr/>
        </p:nvSpPr>
        <p:spPr>
          <a:xfrm>
            <a:off x="7836408" y="2404872"/>
            <a:ext cx="1508760" cy="256032"/>
          </a:xfrm>
          <a:prstGeom prst="rect">
            <a:avLst/>
          </a:prstGeom>
          <a:noFill/>
          <a:ln/>
        </p:spPr>
        <p:txBody>
          <a:bodyPr wrap="square" lIns="0" tIns="0" rIns="0" bIns="0" rtlCol="0" anchor="ctr"/>
          <a:lstStyle/>
          <a:p>
            <a:pPr marL="0" indent="0">
              <a:buNone/>
            </a:pPr>
            <a:r>
              <a:rPr lang="en-US" sz="1500" b="1" dirty="0">
                <a:solidFill>
                  <a:srgbClr val="0B3558"/>
                </a:solidFill>
              </a:rPr>
              <a:t>Control</a:t>
            </a:r>
            <a:endParaRPr lang="en-US" sz="1500" dirty="0"/>
          </a:p>
        </p:txBody>
      </p:sp>
      <p:sp>
        <p:nvSpPr>
          <p:cNvPr id="30" name="Text 28"/>
          <p:cNvSpPr/>
          <p:nvPr/>
        </p:nvSpPr>
        <p:spPr>
          <a:xfrm>
            <a:off x="7836408" y="2770632"/>
            <a:ext cx="1481328" cy="1719072"/>
          </a:xfrm>
          <a:prstGeom prst="rect">
            <a:avLst/>
          </a:prstGeom>
          <a:noFill/>
          <a:ln/>
        </p:spPr>
        <p:txBody>
          <a:bodyPr wrap="square" lIns="0" tIns="0" rIns="0" bIns="0" rtlCol="0" anchor="t">
            <a:normAutofit/>
          </a:bodyPr>
          <a:lstStyle/>
          <a:p>
            <a:pPr marL="0" indent="0">
              <a:buNone/>
            </a:pPr>
            <a:r>
              <a:rPr lang="en-US" sz="1150" dirty="0">
                <a:solidFill>
                  <a:srgbClr val="667085"/>
                </a:solidFill>
              </a:rPr>
              <a:t>LangGraph state + deterministic rules select the next route.</a:t>
            </a:r>
            <a:endParaRPr lang="en-US" sz="1150" dirty="0"/>
          </a:p>
        </p:txBody>
      </p:sp>
      <p:sp>
        <p:nvSpPr>
          <p:cNvPr id="31" name="Shape 29"/>
          <p:cNvSpPr/>
          <p:nvPr/>
        </p:nvSpPr>
        <p:spPr>
          <a:xfrm>
            <a:off x="9537192" y="3127248"/>
            <a:ext cx="320040" cy="457200"/>
          </a:xfrm>
          <a:prstGeom prst="chevron">
            <a:avLst/>
          </a:prstGeom>
          <a:solidFill>
            <a:srgbClr val="C9D3DF"/>
          </a:solidFill>
          <a:ln w="12700">
            <a:solidFill>
              <a:srgbClr val="C9D3DF"/>
            </a:solidFill>
            <a:prstDash val="solid"/>
          </a:ln>
        </p:spPr>
      </p:sp>
      <p:sp>
        <p:nvSpPr>
          <p:cNvPr id="32" name="Shape 30"/>
          <p:cNvSpPr/>
          <p:nvPr/>
        </p:nvSpPr>
        <p:spPr>
          <a:xfrm>
            <a:off x="10378440" y="1417320"/>
            <a:ext cx="640080" cy="640080"/>
          </a:xfrm>
          <a:prstGeom prst="ellipse">
            <a:avLst/>
          </a:prstGeom>
          <a:solidFill>
            <a:srgbClr val="2E7D32"/>
          </a:solidFill>
          <a:ln w="12700">
            <a:solidFill>
              <a:srgbClr val="2E7D32"/>
            </a:solidFill>
            <a:prstDash val="solid"/>
          </a:ln>
        </p:spPr>
      </p:sp>
      <p:sp>
        <p:nvSpPr>
          <p:cNvPr id="33" name="Text 31"/>
          <p:cNvSpPr/>
          <p:nvPr/>
        </p:nvSpPr>
        <p:spPr>
          <a:xfrm>
            <a:off x="10378440" y="1572768"/>
            <a:ext cx="640080" cy="182880"/>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34" name="Shape 32"/>
          <p:cNvSpPr/>
          <p:nvPr/>
        </p:nvSpPr>
        <p:spPr>
          <a:xfrm>
            <a:off x="9966960" y="2240280"/>
            <a:ext cx="1828800" cy="2377440"/>
          </a:xfrm>
          <a:prstGeom prst="roundRect">
            <a:avLst>
              <a:gd name="adj" fmla="val 4000"/>
            </a:avLst>
          </a:prstGeom>
          <a:solidFill>
            <a:srgbClr val="FFFFFF"/>
          </a:solidFill>
          <a:ln w="12700">
            <a:solidFill>
              <a:srgbClr val="D8DEE7"/>
            </a:solidFill>
            <a:prstDash val="solid"/>
          </a:ln>
        </p:spPr>
      </p:sp>
      <p:sp>
        <p:nvSpPr>
          <p:cNvPr id="35" name="Shape 33"/>
          <p:cNvSpPr/>
          <p:nvPr/>
        </p:nvSpPr>
        <p:spPr>
          <a:xfrm>
            <a:off x="9966960" y="2240280"/>
            <a:ext cx="64008" cy="2377440"/>
          </a:xfrm>
          <a:prstGeom prst="rect">
            <a:avLst/>
          </a:prstGeom>
          <a:solidFill>
            <a:srgbClr val="2E7D32"/>
          </a:solidFill>
          <a:ln w="12700">
            <a:solidFill>
              <a:srgbClr val="2E7D32"/>
            </a:solidFill>
            <a:prstDash val="solid"/>
          </a:ln>
        </p:spPr>
      </p:sp>
      <p:sp>
        <p:nvSpPr>
          <p:cNvPr id="36" name="Text 34"/>
          <p:cNvSpPr/>
          <p:nvPr/>
        </p:nvSpPr>
        <p:spPr>
          <a:xfrm>
            <a:off x="10168128" y="2404872"/>
            <a:ext cx="1508760" cy="256032"/>
          </a:xfrm>
          <a:prstGeom prst="rect">
            <a:avLst/>
          </a:prstGeom>
          <a:noFill/>
          <a:ln/>
        </p:spPr>
        <p:txBody>
          <a:bodyPr wrap="square" lIns="0" tIns="0" rIns="0" bIns="0" rtlCol="0" anchor="ctr"/>
          <a:lstStyle/>
          <a:p>
            <a:pPr marL="0" indent="0">
              <a:buNone/>
            </a:pPr>
            <a:r>
              <a:rPr lang="en-US" sz="1500" b="1" dirty="0">
                <a:solidFill>
                  <a:srgbClr val="0B3558"/>
                </a:solidFill>
              </a:rPr>
              <a:t>Act / Abstain</a:t>
            </a:r>
            <a:endParaRPr lang="en-US" sz="1500" dirty="0"/>
          </a:p>
        </p:txBody>
      </p:sp>
      <p:sp>
        <p:nvSpPr>
          <p:cNvPr id="37" name="Text 35"/>
          <p:cNvSpPr/>
          <p:nvPr/>
        </p:nvSpPr>
        <p:spPr>
          <a:xfrm>
            <a:off x="10168128" y="2770632"/>
            <a:ext cx="1481328" cy="1719072"/>
          </a:xfrm>
          <a:prstGeom prst="rect">
            <a:avLst/>
          </a:prstGeom>
          <a:noFill/>
          <a:ln/>
        </p:spPr>
        <p:txBody>
          <a:bodyPr wrap="square" lIns="0" tIns="0" rIns="0" bIns="0" rtlCol="0" anchor="t">
            <a:normAutofit/>
          </a:bodyPr>
          <a:lstStyle/>
          <a:p>
            <a:pPr marL="0" indent="0">
              <a:buNone/>
            </a:pPr>
            <a:r>
              <a:rPr lang="en-US" sz="1150" dirty="0">
                <a:solidFill>
                  <a:srgbClr val="667085"/>
                </a:solidFill>
              </a:rPr>
              <a:t>Draft only if supported; otherwise stop or escalate.</a:t>
            </a:r>
            <a:endParaRPr lang="en-US" sz="1150" dirty="0"/>
          </a:p>
        </p:txBody>
      </p:sp>
      <p:sp>
        <p:nvSpPr>
          <p:cNvPr id="38" name="Shape 36"/>
          <p:cNvSpPr/>
          <p:nvPr/>
        </p:nvSpPr>
        <p:spPr>
          <a:xfrm>
            <a:off x="914400" y="5074920"/>
            <a:ext cx="10332720" cy="713232"/>
          </a:xfrm>
          <a:prstGeom prst="roundRect">
            <a:avLst/>
          </a:prstGeom>
          <a:solidFill>
            <a:srgbClr val="EDF3F8"/>
          </a:solidFill>
          <a:ln w="12700">
            <a:solidFill>
              <a:srgbClr val="D3DFE9"/>
            </a:solidFill>
            <a:prstDash val="solid"/>
          </a:ln>
        </p:spPr>
      </p:sp>
      <p:sp>
        <p:nvSpPr>
          <p:cNvPr id="39" name="Text 37"/>
          <p:cNvSpPr/>
          <p:nvPr/>
        </p:nvSpPr>
        <p:spPr>
          <a:xfrm>
            <a:off x="1143000" y="5285232"/>
            <a:ext cx="9875520" cy="256032"/>
          </a:xfrm>
          <a:prstGeom prst="rect">
            <a:avLst/>
          </a:prstGeom>
          <a:noFill/>
          <a:ln/>
        </p:spPr>
        <p:txBody>
          <a:bodyPr wrap="square" lIns="0" tIns="0" rIns="0" bIns="0" rtlCol="0" anchor="ctr"/>
          <a:lstStyle/>
          <a:p>
            <a:pPr marL="0" indent="0" algn="ctr">
              <a:buNone/>
            </a:pPr>
            <a:r>
              <a:rPr lang="en-US" sz="1500" b="1" dirty="0">
                <a:solidFill>
                  <a:srgbClr val="0B3558"/>
                </a:solidFill>
              </a:rPr>
              <a:t>Design principle: use LLMs for synthesis and judgment; use deterministic code for rules, routing, and hard safety gates.</a:t>
            </a:r>
            <a:endParaRPr lang="en-US" sz="1500" dirty="0"/>
          </a:p>
        </p:txBody>
      </p:sp>
      <p:sp>
        <p:nvSpPr>
          <p:cNvPr id="40"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CA3AF"/>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1064240" cy="438912"/>
          </a:xfrm>
          <a:prstGeom prst="rect">
            <a:avLst/>
          </a:prstGeom>
          <a:noFill/>
          <a:ln/>
        </p:spPr>
        <p:txBody>
          <a:bodyPr wrap="square" lIns="0" tIns="0" rIns="0" bIns="0" rtlCol="0" anchor="ctr"/>
          <a:lstStyle/>
          <a:p>
            <a:pPr marL="0" indent="0">
              <a:buNone/>
            </a:pPr>
            <a:r>
              <a:rPr lang="en-US" sz="2700" b="1" dirty="0">
                <a:solidFill>
                  <a:srgbClr val="0B3558"/>
                </a:solidFill>
              </a:rPr>
              <a:t>Safety, reliability, and human oversight</a:t>
            </a:r>
            <a:endParaRPr lang="en-US" sz="2700" dirty="0"/>
          </a:p>
        </p:txBody>
      </p:sp>
      <p:sp>
        <p:nvSpPr>
          <p:cNvPr id="3" name="Text 1"/>
          <p:cNvSpPr/>
          <p:nvPr/>
        </p:nvSpPr>
        <p:spPr>
          <a:xfrm>
            <a:off x="566928" y="822960"/>
            <a:ext cx="10789920" cy="320040"/>
          </a:xfrm>
          <a:prstGeom prst="rect">
            <a:avLst/>
          </a:prstGeom>
          <a:noFill/>
          <a:ln/>
        </p:spPr>
        <p:txBody>
          <a:bodyPr wrap="square" lIns="0" tIns="0" rIns="0" bIns="0" rtlCol="0" anchor="ctr"/>
          <a:lstStyle/>
          <a:p>
            <a:pPr marL="0" indent="0">
              <a:buNone/>
            </a:pPr>
            <a:r>
              <a:rPr lang="en-US" sz="1250" dirty="0">
                <a:solidFill>
                  <a:srgbClr val="667085"/>
                </a:solidFill>
              </a:rPr>
              <a:t>Layered controls prevent unsupported appeals and route uncertainty to people</a:t>
            </a:r>
            <a:endParaRPr lang="en-US" sz="1250" dirty="0"/>
          </a:p>
        </p:txBody>
      </p:sp>
      <p:sp>
        <p:nvSpPr>
          <p:cNvPr id="4" name="Shape 2"/>
          <p:cNvSpPr/>
          <p:nvPr/>
        </p:nvSpPr>
        <p:spPr>
          <a:xfrm>
            <a:off x="640080" y="1325880"/>
            <a:ext cx="3429000" cy="1417320"/>
          </a:xfrm>
          <a:prstGeom prst="roundRect">
            <a:avLst>
              <a:gd name="adj" fmla="val 5161"/>
            </a:avLst>
          </a:prstGeom>
          <a:solidFill>
            <a:srgbClr val="FFFFFF"/>
          </a:solidFill>
          <a:ln w="12700">
            <a:solidFill>
              <a:srgbClr val="D8DEE7"/>
            </a:solidFill>
            <a:prstDash val="solid"/>
          </a:ln>
        </p:spPr>
      </p:sp>
      <p:sp>
        <p:nvSpPr>
          <p:cNvPr id="5" name="Shape 3"/>
          <p:cNvSpPr/>
          <p:nvPr/>
        </p:nvSpPr>
        <p:spPr>
          <a:xfrm>
            <a:off x="640080" y="1325880"/>
            <a:ext cx="64008" cy="1417320"/>
          </a:xfrm>
          <a:prstGeom prst="rect">
            <a:avLst/>
          </a:prstGeom>
          <a:solidFill>
            <a:srgbClr val="A6192E"/>
          </a:solidFill>
          <a:ln w="12700">
            <a:solidFill>
              <a:srgbClr val="A6192E"/>
            </a:solidFill>
            <a:prstDash val="solid"/>
          </a:ln>
        </p:spPr>
      </p:sp>
      <p:sp>
        <p:nvSpPr>
          <p:cNvPr id="6" name="Text 4"/>
          <p:cNvSpPr/>
          <p:nvPr/>
        </p:nvSpPr>
        <p:spPr>
          <a:xfrm>
            <a:off x="841248" y="1490472"/>
            <a:ext cx="3108960" cy="256032"/>
          </a:xfrm>
          <a:prstGeom prst="rect">
            <a:avLst/>
          </a:prstGeom>
          <a:noFill/>
          <a:ln/>
        </p:spPr>
        <p:txBody>
          <a:bodyPr wrap="square" lIns="0" tIns="0" rIns="0" bIns="0" rtlCol="0" anchor="ctr"/>
          <a:lstStyle/>
          <a:p>
            <a:pPr marL="0" indent="0">
              <a:buNone/>
            </a:pPr>
            <a:r>
              <a:rPr lang="en-US" sz="1500" b="1" dirty="0">
                <a:solidFill>
                  <a:srgbClr val="0B3558"/>
                </a:solidFill>
              </a:rPr>
              <a:t>Pre-generation</a:t>
            </a:r>
            <a:endParaRPr lang="en-US" sz="1500" dirty="0"/>
          </a:p>
        </p:txBody>
      </p:sp>
      <p:sp>
        <p:nvSpPr>
          <p:cNvPr id="7" name="Text 5"/>
          <p:cNvSpPr/>
          <p:nvPr/>
        </p:nvSpPr>
        <p:spPr>
          <a:xfrm>
            <a:off x="841248" y="1856232"/>
            <a:ext cx="3081528" cy="758952"/>
          </a:xfrm>
          <a:prstGeom prst="rect">
            <a:avLst/>
          </a:prstGeom>
          <a:noFill/>
          <a:ln/>
        </p:spPr>
        <p:txBody>
          <a:bodyPr wrap="square" lIns="0" tIns="0" rIns="0" bIns="0" rtlCol="0" anchor="t">
            <a:normAutofit/>
          </a:bodyPr>
          <a:lstStyle/>
          <a:p>
            <a:pPr marL="0" indent="0">
              <a:buNone/>
            </a:pPr>
            <a:r>
              <a:rPr lang="en-US" sz="1150" dirty="0">
                <a:solidFill>
                  <a:srgbClr val="667085"/>
                </a:solidFill>
              </a:rPr>
              <a:t>Case validation • source/case metadata • evidence-only instructions • input guardrails</a:t>
            </a:r>
            <a:endParaRPr lang="en-US" sz="1150" dirty="0"/>
          </a:p>
        </p:txBody>
      </p:sp>
      <p:sp>
        <p:nvSpPr>
          <p:cNvPr id="8" name="Shape 6"/>
          <p:cNvSpPr/>
          <p:nvPr/>
        </p:nvSpPr>
        <p:spPr>
          <a:xfrm>
            <a:off x="4389120" y="1325880"/>
            <a:ext cx="3429000" cy="1417320"/>
          </a:xfrm>
          <a:prstGeom prst="roundRect">
            <a:avLst>
              <a:gd name="adj" fmla="val 5161"/>
            </a:avLst>
          </a:prstGeom>
          <a:solidFill>
            <a:srgbClr val="FFFFFF"/>
          </a:solidFill>
          <a:ln w="12700">
            <a:solidFill>
              <a:srgbClr val="D8DEE7"/>
            </a:solidFill>
            <a:prstDash val="solid"/>
          </a:ln>
        </p:spPr>
      </p:sp>
      <p:sp>
        <p:nvSpPr>
          <p:cNvPr id="9" name="Shape 7"/>
          <p:cNvSpPr/>
          <p:nvPr/>
        </p:nvSpPr>
        <p:spPr>
          <a:xfrm>
            <a:off x="4389120" y="1325880"/>
            <a:ext cx="64008" cy="1417320"/>
          </a:xfrm>
          <a:prstGeom prst="rect">
            <a:avLst/>
          </a:prstGeom>
          <a:solidFill>
            <a:srgbClr val="C47F00"/>
          </a:solidFill>
          <a:ln w="12700">
            <a:solidFill>
              <a:srgbClr val="C47F00"/>
            </a:solidFill>
            <a:prstDash val="solid"/>
          </a:ln>
        </p:spPr>
      </p:sp>
      <p:sp>
        <p:nvSpPr>
          <p:cNvPr id="10" name="Text 8"/>
          <p:cNvSpPr/>
          <p:nvPr/>
        </p:nvSpPr>
        <p:spPr>
          <a:xfrm>
            <a:off x="4590288" y="1490472"/>
            <a:ext cx="3108960" cy="256032"/>
          </a:xfrm>
          <a:prstGeom prst="rect">
            <a:avLst/>
          </a:prstGeom>
          <a:noFill/>
          <a:ln/>
        </p:spPr>
        <p:txBody>
          <a:bodyPr wrap="square" lIns="0" tIns="0" rIns="0" bIns="0" rtlCol="0" anchor="ctr"/>
          <a:lstStyle/>
          <a:p>
            <a:pPr marL="0" indent="0">
              <a:buNone/>
            </a:pPr>
            <a:r>
              <a:rPr lang="en-US" sz="1500" b="1" dirty="0">
                <a:solidFill>
                  <a:srgbClr val="0B3558"/>
                </a:solidFill>
              </a:rPr>
              <a:t>During reasoning</a:t>
            </a:r>
            <a:endParaRPr lang="en-US" sz="1500" dirty="0"/>
          </a:p>
        </p:txBody>
      </p:sp>
      <p:sp>
        <p:nvSpPr>
          <p:cNvPr id="11" name="Text 9"/>
          <p:cNvSpPr/>
          <p:nvPr/>
        </p:nvSpPr>
        <p:spPr>
          <a:xfrm>
            <a:off x="4590288" y="1856232"/>
            <a:ext cx="3081528" cy="758952"/>
          </a:xfrm>
          <a:prstGeom prst="rect">
            <a:avLst/>
          </a:prstGeom>
          <a:noFill/>
          <a:ln/>
        </p:spPr>
        <p:txBody>
          <a:bodyPr wrap="square" lIns="0" tIns="0" rIns="0" bIns="0" rtlCol="0" anchor="t">
            <a:normAutofit/>
          </a:bodyPr>
          <a:lstStyle/>
          <a:p>
            <a:pPr marL="0" indent="0">
              <a:buNone/>
            </a:pPr>
            <a:r>
              <a:rPr lang="en-US" sz="1150" dirty="0">
                <a:solidFill>
                  <a:srgbClr val="667085"/>
                </a:solidFill>
              </a:rPr>
              <a:t>Deterministic policy checks • risk guardrail • critic review • structured decision parsing</a:t>
            </a:r>
            <a:endParaRPr lang="en-US" sz="1150" dirty="0"/>
          </a:p>
        </p:txBody>
      </p:sp>
      <p:sp>
        <p:nvSpPr>
          <p:cNvPr id="12" name="Shape 10"/>
          <p:cNvSpPr/>
          <p:nvPr/>
        </p:nvSpPr>
        <p:spPr>
          <a:xfrm>
            <a:off x="8138160" y="1325880"/>
            <a:ext cx="3429000" cy="1417320"/>
          </a:xfrm>
          <a:prstGeom prst="roundRect">
            <a:avLst>
              <a:gd name="adj" fmla="val 5161"/>
            </a:avLst>
          </a:prstGeom>
          <a:solidFill>
            <a:srgbClr val="FFFFFF"/>
          </a:solidFill>
          <a:ln w="12700">
            <a:solidFill>
              <a:srgbClr val="D8DEE7"/>
            </a:solidFill>
            <a:prstDash val="solid"/>
          </a:ln>
        </p:spPr>
      </p:sp>
      <p:sp>
        <p:nvSpPr>
          <p:cNvPr id="13" name="Shape 11"/>
          <p:cNvSpPr/>
          <p:nvPr/>
        </p:nvSpPr>
        <p:spPr>
          <a:xfrm>
            <a:off x="8138160" y="1325880"/>
            <a:ext cx="64008" cy="1417320"/>
          </a:xfrm>
          <a:prstGeom prst="rect">
            <a:avLst/>
          </a:prstGeom>
          <a:solidFill>
            <a:srgbClr val="167D7F"/>
          </a:solidFill>
          <a:ln w="12700">
            <a:solidFill>
              <a:srgbClr val="167D7F"/>
            </a:solidFill>
            <a:prstDash val="solid"/>
          </a:ln>
        </p:spPr>
      </p:sp>
      <p:sp>
        <p:nvSpPr>
          <p:cNvPr id="14" name="Text 12"/>
          <p:cNvSpPr/>
          <p:nvPr/>
        </p:nvSpPr>
        <p:spPr>
          <a:xfrm>
            <a:off x="8339328" y="1490472"/>
            <a:ext cx="3108960" cy="256032"/>
          </a:xfrm>
          <a:prstGeom prst="rect">
            <a:avLst/>
          </a:prstGeom>
          <a:noFill/>
          <a:ln/>
        </p:spPr>
        <p:txBody>
          <a:bodyPr wrap="square" lIns="0" tIns="0" rIns="0" bIns="0" rtlCol="0" anchor="ctr"/>
          <a:lstStyle/>
          <a:p>
            <a:pPr marL="0" indent="0">
              <a:buNone/>
            </a:pPr>
            <a:r>
              <a:rPr lang="en-US" sz="1500" b="1" dirty="0">
                <a:solidFill>
                  <a:srgbClr val="0B3558"/>
                </a:solidFill>
              </a:rPr>
              <a:t>Post-generation</a:t>
            </a:r>
            <a:endParaRPr lang="en-US" sz="1500" dirty="0"/>
          </a:p>
        </p:txBody>
      </p:sp>
      <p:sp>
        <p:nvSpPr>
          <p:cNvPr id="15" name="Text 13"/>
          <p:cNvSpPr/>
          <p:nvPr/>
        </p:nvSpPr>
        <p:spPr>
          <a:xfrm>
            <a:off x="8339328" y="1856232"/>
            <a:ext cx="3081528" cy="758952"/>
          </a:xfrm>
          <a:prstGeom prst="rect">
            <a:avLst/>
          </a:prstGeom>
          <a:noFill/>
          <a:ln/>
        </p:spPr>
        <p:txBody>
          <a:bodyPr wrap="square" lIns="0" tIns="0" rIns="0" bIns="0" rtlCol="0" anchor="t">
            <a:normAutofit/>
          </a:bodyPr>
          <a:lstStyle/>
          <a:p>
            <a:pPr marL="0" indent="0">
              <a:buNone/>
            </a:pPr>
            <a:r>
              <a:rPr lang="en-US" sz="1150" dirty="0">
                <a:solidFill>
                  <a:srgbClr val="667085"/>
                </a:solidFill>
              </a:rPr>
              <a:t>Hard writer gate • grounding verification • one bounded revision • trajectory logging</a:t>
            </a:r>
            <a:endParaRPr lang="en-US" sz="1150" dirty="0"/>
          </a:p>
        </p:txBody>
      </p:sp>
      <p:sp>
        <p:nvSpPr>
          <p:cNvPr id="16" name="Shape 14"/>
          <p:cNvSpPr/>
          <p:nvPr/>
        </p:nvSpPr>
        <p:spPr>
          <a:xfrm>
            <a:off x="1051560" y="3246120"/>
            <a:ext cx="4297680" cy="2057400"/>
          </a:xfrm>
          <a:prstGeom prst="roundRect">
            <a:avLst/>
          </a:prstGeom>
          <a:solidFill>
            <a:srgbClr val="EAF6EC"/>
          </a:solidFill>
          <a:ln w="12700">
            <a:solidFill>
              <a:srgbClr val="B8DDBE"/>
            </a:solidFill>
            <a:prstDash val="solid"/>
          </a:ln>
        </p:spPr>
      </p:sp>
      <p:sp>
        <p:nvSpPr>
          <p:cNvPr id="17" name="Text 15"/>
          <p:cNvSpPr/>
          <p:nvPr/>
        </p:nvSpPr>
        <p:spPr>
          <a:xfrm>
            <a:off x="1371600" y="3566160"/>
            <a:ext cx="3657600" cy="320040"/>
          </a:xfrm>
          <a:prstGeom prst="rect">
            <a:avLst/>
          </a:prstGeom>
          <a:noFill/>
          <a:ln/>
        </p:spPr>
        <p:txBody>
          <a:bodyPr wrap="square" lIns="0" tIns="0" rIns="0" bIns="0" rtlCol="0" anchor="ctr"/>
          <a:lstStyle/>
          <a:p>
            <a:pPr marL="0" indent="0" algn="ctr">
              <a:buNone/>
            </a:pPr>
            <a:r>
              <a:rPr lang="en-US" sz="2200" b="1" dirty="0">
                <a:solidFill>
                  <a:srgbClr val="2E7D32"/>
                </a:solidFill>
              </a:rPr>
              <a:t>Human-in-the-Loop</a:t>
            </a:r>
            <a:endParaRPr lang="en-US" sz="2200" dirty="0"/>
          </a:p>
        </p:txBody>
      </p:sp>
      <p:sp>
        <p:nvSpPr>
          <p:cNvPr id="18" name="Text 16"/>
          <p:cNvSpPr/>
          <p:nvPr/>
        </p:nvSpPr>
        <p:spPr>
          <a:xfrm>
            <a:off x="1417320" y="4160520"/>
            <a:ext cx="3566160" cy="685800"/>
          </a:xfrm>
          <a:prstGeom prst="rect">
            <a:avLst/>
          </a:prstGeom>
          <a:noFill/>
          <a:ln/>
        </p:spPr>
        <p:txBody>
          <a:bodyPr wrap="square" lIns="0" tIns="0" rIns="0" bIns="0" rtlCol="0" anchor="ctr">
            <a:normAutofit/>
          </a:bodyPr>
          <a:lstStyle/>
          <a:p>
            <a:pPr marL="0" indent="0" algn="ctr">
              <a:buNone/>
            </a:pPr>
            <a:r>
              <a:rPr lang="en-US" sz="1400" dirty="0">
                <a:solidFill>
                  <a:srgbClr val="172033"/>
                </a:solidFill>
              </a:rPr>
              <a:t>Escalate when evidence is missing/conflicting, risk is high, policy application is uncertain, or verification remains unresolved.</a:t>
            </a:r>
            <a:endParaRPr lang="en-US" sz="1400" dirty="0"/>
          </a:p>
        </p:txBody>
      </p:sp>
      <p:sp>
        <p:nvSpPr>
          <p:cNvPr id="19" name="Shape 17"/>
          <p:cNvSpPr/>
          <p:nvPr/>
        </p:nvSpPr>
        <p:spPr>
          <a:xfrm>
            <a:off x="6812280" y="3246120"/>
            <a:ext cx="4297680" cy="2057400"/>
          </a:xfrm>
          <a:prstGeom prst="roundRect">
            <a:avLst/>
          </a:prstGeom>
          <a:solidFill>
            <a:srgbClr val="FDEBEC"/>
          </a:solidFill>
          <a:ln w="12700">
            <a:solidFill>
              <a:srgbClr val="E8B6BC"/>
            </a:solidFill>
            <a:prstDash val="solid"/>
          </a:ln>
        </p:spPr>
      </p:sp>
      <p:sp>
        <p:nvSpPr>
          <p:cNvPr id="20" name="Text 18"/>
          <p:cNvSpPr/>
          <p:nvPr/>
        </p:nvSpPr>
        <p:spPr>
          <a:xfrm>
            <a:off x="7132320" y="3566160"/>
            <a:ext cx="3657600" cy="320040"/>
          </a:xfrm>
          <a:prstGeom prst="rect">
            <a:avLst/>
          </a:prstGeom>
          <a:noFill/>
          <a:ln/>
        </p:spPr>
        <p:txBody>
          <a:bodyPr wrap="square" lIns="0" tIns="0" rIns="0" bIns="0" rtlCol="0" anchor="ctr"/>
          <a:lstStyle/>
          <a:p>
            <a:pPr marL="0" indent="0" algn="ctr">
              <a:buNone/>
            </a:pPr>
            <a:r>
              <a:rPr lang="en-US" sz="2200" b="1" dirty="0">
                <a:solidFill>
                  <a:srgbClr val="A6192E"/>
                </a:solidFill>
              </a:rPr>
              <a:t>Hard stop</a:t>
            </a:r>
            <a:endParaRPr lang="en-US" sz="2200" dirty="0"/>
          </a:p>
        </p:txBody>
      </p:sp>
      <p:sp>
        <p:nvSpPr>
          <p:cNvPr id="21" name="Text 19"/>
          <p:cNvSpPr/>
          <p:nvPr/>
        </p:nvSpPr>
        <p:spPr>
          <a:xfrm>
            <a:off x="7178040" y="4160520"/>
            <a:ext cx="3566160" cy="685800"/>
          </a:xfrm>
          <a:prstGeom prst="rect">
            <a:avLst/>
          </a:prstGeom>
          <a:noFill/>
          <a:ln/>
        </p:spPr>
        <p:txBody>
          <a:bodyPr wrap="square" lIns="0" tIns="0" rIns="0" bIns="0" rtlCol="0" anchor="ctr">
            <a:normAutofit fontScale="92500" lnSpcReduction="20000"/>
          </a:bodyPr>
          <a:lstStyle/>
          <a:p>
            <a:pPr marL="0" indent="0" algn="ctr">
              <a:buNone/>
            </a:pPr>
            <a:r>
              <a:rPr lang="en-US" sz="1400" dirty="0">
                <a:solidFill>
                  <a:srgbClr val="172033"/>
                </a:solidFill>
              </a:rPr>
              <a:t>If the structured decision is APPEAL_NOT_SUPPORTED, the writer cannot draft an appeal. The workflow ends with a rationale.</a:t>
            </a:r>
            <a:endParaRPr lang="en-US" sz="14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CA3AF"/>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1064240" cy="438912"/>
          </a:xfrm>
          <a:prstGeom prst="rect">
            <a:avLst/>
          </a:prstGeom>
          <a:noFill/>
          <a:ln/>
        </p:spPr>
        <p:txBody>
          <a:bodyPr wrap="square" lIns="0" tIns="0" rIns="0" bIns="0" rtlCol="0" anchor="ctr"/>
          <a:lstStyle/>
          <a:p>
            <a:pPr marL="0" indent="0">
              <a:buNone/>
            </a:pPr>
            <a:r>
              <a:rPr lang="en-US" sz="2700" b="1" dirty="0">
                <a:solidFill>
                  <a:srgbClr val="0B3558"/>
                </a:solidFill>
              </a:rPr>
              <a:t>Evaluation and results: can the workflow take the right action?</a:t>
            </a:r>
            <a:endParaRPr lang="en-US" sz="2700" dirty="0"/>
          </a:p>
        </p:txBody>
      </p:sp>
      <p:sp>
        <p:nvSpPr>
          <p:cNvPr id="3" name="Text 1"/>
          <p:cNvSpPr/>
          <p:nvPr/>
        </p:nvSpPr>
        <p:spPr>
          <a:xfrm>
            <a:off x="566928" y="822960"/>
            <a:ext cx="10789920" cy="320040"/>
          </a:xfrm>
          <a:prstGeom prst="rect">
            <a:avLst/>
          </a:prstGeom>
          <a:noFill/>
          <a:ln/>
        </p:spPr>
        <p:txBody>
          <a:bodyPr wrap="square" lIns="0" tIns="0" rIns="0" bIns="0" rtlCol="0" anchor="ctr"/>
          <a:lstStyle/>
          <a:p>
            <a:pPr marL="0" indent="0">
              <a:buNone/>
            </a:pPr>
            <a:r>
              <a:rPr lang="en-US" sz="1250" dirty="0">
                <a:solidFill>
                  <a:srgbClr val="667085"/>
                </a:solidFill>
              </a:rPr>
              <a:t>Synthetic end-to-end scenarios tested evidence grounding, routing, decision controls, and drafting behavior</a:t>
            </a:r>
            <a:endParaRPr lang="en-US" sz="1250" dirty="0"/>
          </a:p>
        </p:txBody>
      </p:sp>
      <p:sp>
        <p:nvSpPr>
          <p:cNvPr id="4" name="Shape 2"/>
          <p:cNvSpPr/>
          <p:nvPr/>
        </p:nvSpPr>
        <p:spPr>
          <a:xfrm>
            <a:off x="685800" y="1371600"/>
            <a:ext cx="5257800" cy="4160520"/>
          </a:xfrm>
          <a:prstGeom prst="roundRect">
            <a:avLst/>
          </a:prstGeom>
          <a:solidFill>
            <a:srgbClr val="EAF6EC"/>
          </a:solidFill>
          <a:ln w="15240">
            <a:solidFill>
              <a:srgbClr val="B8DDBE"/>
            </a:solidFill>
            <a:prstDash val="solid"/>
          </a:ln>
        </p:spPr>
      </p:sp>
      <p:sp>
        <p:nvSpPr>
          <p:cNvPr id="5" name="Text 3"/>
          <p:cNvSpPr/>
          <p:nvPr/>
        </p:nvSpPr>
        <p:spPr>
          <a:xfrm>
            <a:off x="960120" y="1691640"/>
            <a:ext cx="1920240" cy="274320"/>
          </a:xfrm>
          <a:prstGeom prst="rect">
            <a:avLst/>
          </a:prstGeom>
          <a:noFill/>
          <a:ln/>
        </p:spPr>
        <p:txBody>
          <a:bodyPr wrap="square" lIns="0" tIns="0" rIns="0" bIns="0" rtlCol="0" anchor="ctr"/>
          <a:lstStyle/>
          <a:p>
            <a:pPr marL="0" indent="0">
              <a:buNone/>
            </a:pPr>
            <a:r>
              <a:rPr lang="en-US" sz="1300" b="1" dirty="0">
                <a:solidFill>
                  <a:srgbClr val="2E7D32"/>
                </a:solidFill>
              </a:rPr>
              <a:t>SUPPORTED PATH</a:t>
            </a:r>
            <a:endParaRPr lang="en-US" sz="1300" dirty="0"/>
          </a:p>
        </p:txBody>
      </p:sp>
      <p:sp>
        <p:nvSpPr>
          <p:cNvPr id="6" name="Text 4"/>
          <p:cNvSpPr/>
          <p:nvPr/>
        </p:nvSpPr>
        <p:spPr>
          <a:xfrm>
            <a:off x="960120" y="2148840"/>
            <a:ext cx="4480560" cy="502920"/>
          </a:xfrm>
          <a:prstGeom prst="rect">
            <a:avLst/>
          </a:prstGeom>
          <a:noFill/>
          <a:ln/>
        </p:spPr>
        <p:txBody>
          <a:bodyPr wrap="square" lIns="0" tIns="0" rIns="0" bIns="0" rtlCol="0" anchor="ctr"/>
          <a:lstStyle/>
          <a:p>
            <a:pPr marL="0" indent="0">
              <a:buNone/>
            </a:pPr>
            <a:r>
              <a:rPr lang="en-US" sz="2700" b="1" dirty="0">
                <a:solidFill>
                  <a:srgbClr val="2E7D32"/>
                </a:solidFill>
              </a:rPr>
              <a:t>APPEAL_SUPPORTED</a:t>
            </a:r>
            <a:endParaRPr lang="en-US" sz="2700" dirty="0"/>
          </a:p>
        </p:txBody>
      </p:sp>
      <p:sp>
        <p:nvSpPr>
          <p:cNvPr id="7" name="Text 5"/>
          <p:cNvSpPr/>
          <p:nvPr/>
        </p:nvSpPr>
        <p:spPr>
          <a:xfrm>
            <a:off x="960120" y="2880360"/>
            <a:ext cx="4526280" cy="1828800"/>
          </a:xfrm>
          <a:prstGeom prst="rect">
            <a:avLst/>
          </a:prstGeom>
          <a:noFill/>
          <a:ln/>
        </p:spPr>
        <p:txBody>
          <a:bodyPr wrap="square" lIns="508" tIns="508" rIns="508" bIns="508" rtlCol="0" anchor="ctr">
            <a:normAutofit/>
          </a:bodyPr>
          <a:lstStyle/>
          <a:p>
            <a:pPr marL="203200" indent="-203200">
              <a:buSzPct val="100000"/>
              <a:buChar char="•"/>
            </a:pPr>
            <a:r>
              <a:rPr lang="en-US" sz="1500" dirty="0">
                <a:solidFill>
                  <a:srgbClr val="172033"/>
                </a:solidFill>
              </a:rPr>
              <a:t>Policy criterion satisfied by retrieved patient evidence</a:t>
            </a:r>
            <a:endParaRPr lang="en-US" sz="1500" dirty="0"/>
          </a:p>
          <a:p>
            <a:pPr marL="203200" indent="-203200">
              <a:buSzPct val="100000"/>
              <a:buChar char="•"/>
            </a:pPr>
            <a:r>
              <a:rPr lang="en-US" sz="1500" dirty="0">
                <a:solidFill>
                  <a:srgbClr val="172033"/>
                </a:solidFill>
              </a:rPr>
              <a:t>Controller routes to Appeal Writer</a:t>
            </a:r>
            <a:endParaRPr lang="en-US" sz="1500" dirty="0"/>
          </a:p>
          <a:p>
            <a:pPr marL="203200" indent="-203200">
              <a:buSzPct val="100000"/>
              <a:buChar char="•"/>
            </a:pPr>
            <a:r>
              <a:rPr lang="en-US" sz="1500" dirty="0">
                <a:solidFill>
                  <a:srgbClr val="172033"/>
                </a:solidFill>
              </a:rPr>
              <a:t>Draft is grounded and verified</a:t>
            </a:r>
            <a:endParaRPr lang="en-US" sz="1500" dirty="0"/>
          </a:p>
          <a:p>
            <a:pPr marL="203200" indent="-203200">
              <a:buSzPct val="100000"/>
              <a:buChar char="•"/>
            </a:pPr>
            <a:r>
              <a:rPr lang="en-US" sz="1500" dirty="0">
                <a:solidFill>
                  <a:srgbClr val="172033"/>
                </a:solidFill>
              </a:rPr>
              <a:t>Human review remains before external action</a:t>
            </a:r>
            <a:endParaRPr lang="en-US" sz="1500" dirty="0"/>
          </a:p>
        </p:txBody>
      </p:sp>
      <p:sp>
        <p:nvSpPr>
          <p:cNvPr id="8" name="Shape 6"/>
          <p:cNvSpPr/>
          <p:nvPr/>
        </p:nvSpPr>
        <p:spPr>
          <a:xfrm>
            <a:off x="6263640" y="1371600"/>
            <a:ext cx="5257800" cy="4160520"/>
          </a:xfrm>
          <a:prstGeom prst="roundRect">
            <a:avLst/>
          </a:prstGeom>
          <a:solidFill>
            <a:srgbClr val="FDEBEC"/>
          </a:solidFill>
          <a:ln w="15240">
            <a:solidFill>
              <a:srgbClr val="E8B6BC"/>
            </a:solidFill>
            <a:prstDash val="solid"/>
          </a:ln>
        </p:spPr>
      </p:sp>
      <p:sp>
        <p:nvSpPr>
          <p:cNvPr id="9" name="Text 7"/>
          <p:cNvSpPr/>
          <p:nvPr/>
        </p:nvSpPr>
        <p:spPr>
          <a:xfrm>
            <a:off x="6537960" y="1691640"/>
            <a:ext cx="2194560" cy="274320"/>
          </a:xfrm>
          <a:prstGeom prst="rect">
            <a:avLst/>
          </a:prstGeom>
          <a:noFill/>
          <a:ln/>
        </p:spPr>
        <p:txBody>
          <a:bodyPr wrap="square" lIns="0" tIns="0" rIns="0" bIns="0" rtlCol="0" anchor="ctr"/>
          <a:lstStyle/>
          <a:p>
            <a:pPr marL="0" indent="0">
              <a:buNone/>
            </a:pPr>
            <a:r>
              <a:rPr lang="en-US" sz="1300" b="1" dirty="0">
                <a:solidFill>
                  <a:srgbClr val="A6192E"/>
                </a:solidFill>
              </a:rPr>
              <a:t>UNSUPPORTED PATH</a:t>
            </a:r>
            <a:endParaRPr lang="en-US" sz="1300" dirty="0"/>
          </a:p>
        </p:txBody>
      </p:sp>
      <p:sp>
        <p:nvSpPr>
          <p:cNvPr id="10" name="Text 8"/>
          <p:cNvSpPr/>
          <p:nvPr/>
        </p:nvSpPr>
        <p:spPr>
          <a:xfrm>
            <a:off x="6537960" y="2148840"/>
            <a:ext cx="4572000" cy="502920"/>
          </a:xfrm>
          <a:prstGeom prst="rect">
            <a:avLst/>
          </a:prstGeom>
          <a:noFill/>
          <a:ln/>
        </p:spPr>
        <p:txBody>
          <a:bodyPr wrap="square" lIns="0" tIns="0" rIns="0" bIns="0" rtlCol="0" anchor="ctr"/>
          <a:lstStyle/>
          <a:p>
            <a:pPr marL="0" indent="0">
              <a:buNone/>
            </a:pPr>
            <a:r>
              <a:rPr lang="en-US" sz="2500" b="1" dirty="0">
                <a:solidFill>
                  <a:srgbClr val="A6192E"/>
                </a:solidFill>
              </a:rPr>
              <a:t>APPEAL_NOT_SUPPORTED</a:t>
            </a:r>
            <a:endParaRPr lang="en-US" sz="2500" dirty="0"/>
          </a:p>
        </p:txBody>
      </p:sp>
      <p:sp>
        <p:nvSpPr>
          <p:cNvPr id="11" name="Text 9"/>
          <p:cNvSpPr/>
          <p:nvPr/>
        </p:nvSpPr>
        <p:spPr>
          <a:xfrm>
            <a:off x="6537960" y="2880360"/>
            <a:ext cx="4526280" cy="1828800"/>
          </a:xfrm>
          <a:prstGeom prst="rect">
            <a:avLst/>
          </a:prstGeom>
          <a:noFill/>
          <a:ln/>
        </p:spPr>
        <p:txBody>
          <a:bodyPr wrap="square" lIns="508" tIns="508" rIns="508" bIns="508" rtlCol="0" anchor="ctr">
            <a:normAutofit/>
          </a:bodyPr>
          <a:lstStyle/>
          <a:p>
            <a:pPr marL="203200" indent="-203200">
              <a:buSzPct val="100000"/>
              <a:buChar char="•"/>
            </a:pPr>
            <a:r>
              <a:rPr lang="en-US" sz="1500" dirty="0">
                <a:solidFill>
                  <a:srgbClr val="172033"/>
                </a:solidFill>
              </a:rPr>
              <a:t>Retrieved evidence does not meet policy requirement</a:t>
            </a:r>
            <a:endParaRPr lang="en-US" sz="1500" dirty="0"/>
          </a:p>
          <a:p>
            <a:pPr marL="203200" indent="-203200">
              <a:buSzPct val="100000"/>
              <a:buChar char="•"/>
            </a:pPr>
            <a:r>
              <a:rPr lang="en-US" sz="1500" dirty="0">
                <a:solidFill>
                  <a:srgbClr val="172033"/>
                </a:solidFill>
              </a:rPr>
              <a:t>Deterministic check reinforces the decision</a:t>
            </a:r>
            <a:endParaRPr lang="en-US" sz="1500" dirty="0"/>
          </a:p>
          <a:p>
            <a:pPr marL="203200" indent="-203200">
              <a:buSzPct val="100000"/>
              <a:buChar char="•"/>
            </a:pPr>
            <a:r>
              <a:rPr lang="en-US" sz="1500" dirty="0">
                <a:solidFill>
                  <a:srgbClr val="172033"/>
                </a:solidFill>
              </a:rPr>
              <a:t>Writer gate prevents appeal generation</a:t>
            </a:r>
            <a:endParaRPr lang="en-US" sz="1500" dirty="0"/>
          </a:p>
          <a:p>
            <a:pPr marL="203200" indent="-203200">
              <a:buSzPct val="100000"/>
              <a:buChar char="•"/>
            </a:pPr>
            <a:r>
              <a:rPr lang="en-US" sz="1500" dirty="0">
                <a:solidFill>
                  <a:srgbClr val="172033"/>
                </a:solidFill>
              </a:rPr>
              <a:t>Workflow returns rationale instead of fabricating support</a:t>
            </a:r>
            <a:endParaRPr lang="en-US" sz="1500" dirty="0"/>
          </a:p>
        </p:txBody>
      </p:sp>
      <p:sp>
        <p:nvSpPr>
          <p:cNvPr id="12" name="Text 10"/>
          <p:cNvSpPr/>
          <p:nvPr/>
        </p:nvSpPr>
        <p:spPr>
          <a:xfrm>
            <a:off x="960120" y="5806440"/>
            <a:ext cx="10241280" cy="347472"/>
          </a:xfrm>
          <a:prstGeom prst="rect">
            <a:avLst/>
          </a:prstGeom>
          <a:noFill/>
          <a:ln/>
        </p:spPr>
        <p:txBody>
          <a:bodyPr wrap="square" lIns="0" tIns="0" rIns="0" bIns="0" rtlCol="0" anchor="ctr"/>
          <a:lstStyle/>
          <a:p>
            <a:pPr marL="0" indent="0" algn="ctr">
              <a:buNone/>
            </a:pPr>
            <a:r>
              <a:rPr lang="en-US" sz="1450" b="1" dirty="0">
                <a:solidFill>
                  <a:srgbClr val="0B3558"/>
                </a:solidFill>
              </a:rPr>
              <a:t>Result: the prototype demonstrated functional differentiation between “draft” and “do not draft” outcomes while remaining evidence-grounded.</a:t>
            </a:r>
            <a:endParaRPr lang="en-US" sz="145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CA3AF"/>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1064240" cy="438912"/>
          </a:xfrm>
          <a:prstGeom prst="rect">
            <a:avLst/>
          </a:prstGeom>
          <a:noFill/>
          <a:ln/>
        </p:spPr>
        <p:txBody>
          <a:bodyPr wrap="square" lIns="0" tIns="0" rIns="0" bIns="0" rtlCol="0" anchor="ctr"/>
          <a:lstStyle/>
          <a:p>
            <a:pPr marL="0" indent="0">
              <a:buNone/>
            </a:pPr>
            <a:r>
              <a:rPr lang="en-US" sz="2700" b="1" dirty="0">
                <a:solidFill>
                  <a:srgbClr val="0B3558"/>
                </a:solidFill>
              </a:rPr>
              <a:t>Implementation &amp; public repository</a:t>
            </a:r>
            <a:endParaRPr lang="en-US" sz="2700" dirty="0"/>
          </a:p>
        </p:txBody>
      </p:sp>
      <p:sp>
        <p:nvSpPr>
          <p:cNvPr id="3" name="Text 1"/>
          <p:cNvSpPr/>
          <p:nvPr/>
        </p:nvSpPr>
        <p:spPr>
          <a:xfrm>
            <a:off x="566928" y="822960"/>
            <a:ext cx="10789920" cy="320040"/>
          </a:xfrm>
          <a:prstGeom prst="rect">
            <a:avLst/>
          </a:prstGeom>
          <a:noFill/>
          <a:ln/>
        </p:spPr>
        <p:txBody>
          <a:bodyPr wrap="square" lIns="0" tIns="0" rIns="0" bIns="0" rtlCol="0" anchor="ctr"/>
          <a:lstStyle/>
          <a:p>
            <a:pPr marL="0" indent="0">
              <a:buNone/>
            </a:pPr>
            <a:r>
              <a:rPr lang="en-US" sz="1250" dirty="0">
                <a:solidFill>
                  <a:srgbClr val="667085"/>
                </a:solidFill>
              </a:rPr>
              <a:t>The prototype is executable in Colab and documented for technical review</a:t>
            </a:r>
            <a:endParaRPr lang="en-US" sz="1250" dirty="0"/>
          </a:p>
        </p:txBody>
      </p:sp>
      <p:sp>
        <p:nvSpPr>
          <p:cNvPr id="4" name="Shape 2"/>
          <p:cNvSpPr/>
          <p:nvPr/>
        </p:nvSpPr>
        <p:spPr>
          <a:xfrm>
            <a:off x="731520" y="1417320"/>
            <a:ext cx="3886200" cy="822960"/>
          </a:xfrm>
          <a:prstGeom prst="roundRect">
            <a:avLst>
              <a:gd name="adj" fmla="val 8889"/>
            </a:avLst>
          </a:prstGeom>
          <a:solidFill>
            <a:srgbClr val="FFFFFF"/>
          </a:solidFill>
          <a:ln w="12700">
            <a:solidFill>
              <a:srgbClr val="D8DEE7"/>
            </a:solidFill>
            <a:prstDash val="solid"/>
          </a:ln>
        </p:spPr>
      </p:sp>
      <p:sp>
        <p:nvSpPr>
          <p:cNvPr id="5" name="Shape 3"/>
          <p:cNvSpPr/>
          <p:nvPr/>
        </p:nvSpPr>
        <p:spPr>
          <a:xfrm>
            <a:off x="731520" y="1417320"/>
            <a:ext cx="64008" cy="822960"/>
          </a:xfrm>
          <a:prstGeom prst="rect">
            <a:avLst/>
          </a:prstGeom>
          <a:solidFill>
            <a:srgbClr val="167D7F"/>
          </a:solidFill>
          <a:ln w="12700">
            <a:solidFill>
              <a:srgbClr val="167D7F"/>
            </a:solidFill>
            <a:prstDash val="solid"/>
          </a:ln>
        </p:spPr>
      </p:sp>
      <p:sp>
        <p:nvSpPr>
          <p:cNvPr id="6" name="Text 4"/>
          <p:cNvSpPr/>
          <p:nvPr/>
        </p:nvSpPr>
        <p:spPr>
          <a:xfrm>
            <a:off x="932688" y="1581912"/>
            <a:ext cx="3566160" cy="256032"/>
          </a:xfrm>
          <a:prstGeom prst="rect">
            <a:avLst/>
          </a:prstGeom>
          <a:noFill/>
          <a:ln/>
        </p:spPr>
        <p:txBody>
          <a:bodyPr wrap="square" lIns="0" tIns="0" rIns="0" bIns="0" rtlCol="0" anchor="ctr"/>
          <a:lstStyle/>
          <a:p>
            <a:pPr marL="0" indent="0">
              <a:buNone/>
            </a:pPr>
            <a:r>
              <a:rPr lang="en-US" sz="1500" b="1" dirty="0">
                <a:solidFill>
                  <a:srgbClr val="0B3558"/>
                </a:solidFill>
              </a:rPr>
              <a:t>Python</a:t>
            </a:r>
            <a:endParaRPr lang="en-US" sz="1500" dirty="0"/>
          </a:p>
        </p:txBody>
      </p:sp>
      <p:sp>
        <p:nvSpPr>
          <p:cNvPr id="7" name="Text 5"/>
          <p:cNvSpPr/>
          <p:nvPr/>
        </p:nvSpPr>
        <p:spPr>
          <a:xfrm>
            <a:off x="932688" y="1947672"/>
            <a:ext cx="3538728" cy="164592"/>
          </a:xfrm>
          <a:prstGeom prst="rect">
            <a:avLst/>
          </a:prstGeom>
          <a:noFill/>
          <a:ln/>
        </p:spPr>
        <p:txBody>
          <a:bodyPr wrap="square" lIns="0" tIns="0" rIns="0" bIns="0" rtlCol="0" anchor="t">
            <a:normAutofit lnSpcReduction="10000"/>
          </a:bodyPr>
          <a:lstStyle/>
          <a:p>
            <a:pPr marL="0" indent="0">
              <a:buNone/>
            </a:pPr>
            <a:r>
              <a:rPr lang="en-US" sz="1150" dirty="0">
                <a:solidFill>
                  <a:srgbClr val="667085"/>
                </a:solidFill>
              </a:rPr>
              <a:t>Core implementation</a:t>
            </a:r>
            <a:endParaRPr lang="en-US" sz="1150" dirty="0"/>
          </a:p>
        </p:txBody>
      </p:sp>
      <p:sp>
        <p:nvSpPr>
          <p:cNvPr id="8" name="Shape 6"/>
          <p:cNvSpPr/>
          <p:nvPr/>
        </p:nvSpPr>
        <p:spPr>
          <a:xfrm>
            <a:off x="4937760" y="1417320"/>
            <a:ext cx="3886200" cy="822960"/>
          </a:xfrm>
          <a:prstGeom prst="roundRect">
            <a:avLst>
              <a:gd name="adj" fmla="val 8889"/>
            </a:avLst>
          </a:prstGeom>
          <a:solidFill>
            <a:srgbClr val="FFFFFF"/>
          </a:solidFill>
          <a:ln w="12700">
            <a:solidFill>
              <a:srgbClr val="D8DEE7"/>
            </a:solidFill>
            <a:prstDash val="solid"/>
          </a:ln>
        </p:spPr>
      </p:sp>
      <p:sp>
        <p:nvSpPr>
          <p:cNvPr id="9" name="Shape 7"/>
          <p:cNvSpPr/>
          <p:nvPr/>
        </p:nvSpPr>
        <p:spPr>
          <a:xfrm>
            <a:off x="4937760" y="1417320"/>
            <a:ext cx="64008" cy="822960"/>
          </a:xfrm>
          <a:prstGeom prst="rect">
            <a:avLst/>
          </a:prstGeom>
          <a:solidFill>
            <a:srgbClr val="6554C0"/>
          </a:solidFill>
          <a:ln w="12700">
            <a:solidFill>
              <a:srgbClr val="6554C0"/>
            </a:solidFill>
            <a:prstDash val="solid"/>
          </a:ln>
        </p:spPr>
      </p:sp>
      <p:sp>
        <p:nvSpPr>
          <p:cNvPr id="10" name="Text 8"/>
          <p:cNvSpPr/>
          <p:nvPr/>
        </p:nvSpPr>
        <p:spPr>
          <a:xfrm>
            <a:off x="5138928" y="1581912"/>
            <a:ext cx="3566160" cy="256032"/>
          </a:xfrm>
          <a:prstGeom prst="rect">
            <a:avLst/>
          </a:prstGeom>
          <a:noFill/>
          <a:ln/>
        </p:spPr>
        <p:txBody>
          <a:bodyPr wrap="square" lIns="0" tIns="0" rIns="0" bIns="0" rtlCol="0" anchor="ctr"/>
          <a:lstStyle/>
          <a:p>
            <a:pPr marL="0" indent="0">
              <a:buNone/>
            </a:pPr>
            <a:r>
              <a:rPr lang="en-US" sz="1500" b="1" dirty="0">
                <a:solidFill>
                  <a:srgbClr val="0B3558"/>
                </a:solidFill>
              </a:rPr>
              <a:t>LangGraph</a:t>
            </a:r>
            <a:endParaRPr lang="en-US" sz="1500" dirty="0"/>
          </a:p>
        </p:txBody>
      </p:sp>
      <p:sp>
        <p:nvSpPr>
          <p:cNvPr id="11" name="Text 9"/>
          <p:cNvSpPr/>
          <p:nvPr/>
        </p:nvSpPr>
        <p:spPr>
          <a:xfrm>
            <a:off x="5138928" y="1947672"/>
            <a:ext cx="3538728" cy="164592"/>
          </a:xfrm>
          <a:prstGeom prst="rect">
            <a:avLst/>
          </a:prstGeom>
          <a:noFill/>
          <a:ln/>
        </p:spPr>
        <p:txBody>
          <a:bodyPr wrap="square" lIns="0" tIns="0" rIns="0" bIns="0" rtlCol="0" anchor="t">
            <a:normAutofit lnSpcReduction="10000"/>
          </a:bodyPr>
          <a:lstStyle/>
          <a:p>
            <a:pPr marL="0" indent="0">
              <a:buNone/>
            </a:pPr>
            <a:r>
              <a:rPr lang="en-US" sz="1150" dirty="0">
                <a:solidFill>
                  <a:srgbClr val="667085"/>
                </a:solidFill>
              </a:rPr>
              <a:t>Stateful orchestration</a:t>
            </a:r>
            <a:endParaRPr lang="en-US" sz="1150" dirty="0"/>
          </a:p>
        </p:txBody>
      </p:sp>
      <p:sp>
        <p:nvSpPr>
          <p:cNvPr id="12" name="Shape 10"/>
          <p:cNvSpPr/>
          <p:nvPr/>
        </p:nvSpPr>
        <p:spPr>
          <a:xfrm>
            <a:off x="731520" y="2468880"/>
            <a:ext cx="3886200" cy="822960"/>
          </a:xfrm>
          <a:prstGeom prst="roundRect">
            <a:avLst>
              <a:gd name="adj" fmla="val 8889"/>
            </a:avLst>
          </a:prstGeom>
          <a:solidFill>
            <a:srgbClr val="FFFFFF"/>
          </a:solidFill>
          <a:ln w="12700">
            <a:solidFill>
              <a:srgbClr val="D8DEE7"/>
            </a:solidFill>
            <a:prstDash val="solid"/>
          </a:ln>
        </p:spPr>
      </p:sp>
      <p:sp>
        <p:nvSpPr>
          <p:cNvPr id="13" name="Shape 11"/>
          <p:cNvSpPr/>
          <p:nvPr/>
        </p:nvSpPr>
        <p:spPr>
          <a:xfrm>
            <a:off x="731520" y="2468880"/>
            <a:ext cx="64008" cy="822960"/>
          </a:xfrm>
          <a:prstGeom prst="rect">
            <a:avLst/>
          </a:prstGeom>
          <a:solidFill>
            <a:srgbClr val="167D7F"/>
          </a:solidFill>
          <a:ln w="12700">
            <a:solidFill>
              <a:srgbClr val="167D7F"/>
            </a:solidFill>
            <a:prstDash val="solid"/>
          </a:ln>
        </p:spPr>
      </p:sp>
      <p:sp>
        <p:nvSpPr>
          <p:cNvPr id="14" name="Text 12"/>
          <p:cNvSpPr/>
          <p:nvPr/>
        </p:nvSpPr>
        <p:spPr>
          <a:xfrm>
            <a:off x="932688" y="2633472"/>
            <a:ext cx="3566160" cy="256032"/>
          </a:xfrm>
          <a:prstGeom prst="rect">
            <a:avLst/>
          </a:prstGeom>
          <a:noFill/>
          <a:ln/>
        </p:spPr>
        <p:txBody>
          <a:bodyPr wrap="square" lIns="0" tIns="0" rIns="0" bIns="0" rtlCol="0" anchor="ctr"/>
          <a:lstStyle/>
          <a:p>
            <a:pPr marL="0" indent="0">
              <a:buNone/>
            </a:pPr>
            <a:r>
              <a:rPr lang="en-US" sz="1500" b="1" dirty="0">
                <a:solidFill>
                  <a:srgbClr val="0B3558"/>
                </a:solidFill>
              </a:rPr>
              <a:t>OpenAI API </a:t>
            </a:r>
            <a:endParaRPr lang="en-US" sz="1500" dirty="0"/>
          </a:p>
        </p:txBody>
      </p:sp>
      <p:sp>
        <p:nvSpPr>
          <p:cNvPr id="15" name="Text 13"/>
          <p:cNvSpPr/>
          <p:nvPr/>
        </p:nvSpPr>
        <p:spPr>
          <a:xfrm>
            <a:off x="932688" y="2999232"/>
            <a:ext cx="3538728" cy="164592"/>
          </a:xfrm>
          <a:prstGeom prst="rect">
            <a:avLst/>
          </a:prstGeom>
          <a:noFill/>
          <a:ln/>
        </p:spPr>
        <p:txBody>
          <a:bodyPr wrap="square" lIns="0" tIns="0" rIns="0" bIns="0" rtlCol="0" anchor="t">
            <a:normAutofit lnSpcReduction="10000"/>
          </a:bodyPr>
          <a:lstStyle/>
          <a:p>
            <a:pPr marL="0" indent="0">
              <a:buNone/>
            </a:pPr>
            <a:r>
              <a:rPr lang="en-US" sz="1150" dirty="0">
                <a:solidFill>
                  <a:srgbClr val="667085"/>
                </a:solidFill>
              </a:rPr>
              <a:t>Reasoning, critique, drafting</a:t>
            </a:r>
            <a:endParaRPr lang="en-US" sz="1150" dirty="0"/>
          </a:p>
        </p:txBody>
      </p:sp>
      <p:sp>
        <p:nvSpPr>
          <p:cNvPr id="16" name="Shape 14"/>
          <p:cNvSpPr/>
          <p:nvPr/>
        </p:nvSpPr>
        <p:spPr>
          <a:xfrm>
            <a:off x="4937760" y="2468880"/>
            <a:ext cx="3886200" cy="822960"/>
          </a:xfrm>
          <a:prstGeom prst="roundRect">
            <a:avLst>
              <a:gd name="adj" fmla="val 8889"/>
            </a:avLst>
          </a:prstGeom>
          <a:solidFill>
            <a:srgbClr val="FFFFFF"/>
          </a:solidFill>
          <a:ln w="12700">
            <a:solidFill>
              <a:srgbClr val="D8DEE7"/>
            </a:solidFill>
            <a:prstDash val="solid"/>
          </a:ln>
        </p:spPr>
      </p:sp>
      <p:sp>
        <p:nvSpPr>
          <p:cNvPr id="17" name="Shape 15"/>
          <p:cNvSpPr/>
          <p:nvPr/>
        </p:nvSpPr>
        <p:spPr>
          <a:xfrm>
            <a:off x="4937760" y="2468880"/>
            <a:ext cx="64008" cy="822960"/>
          </a:xfrm>
          <a:prstGeom prst="rect">
            <a:avLst/>
          </a:prstGeom>
          <a:solidFill>
            <a:srgbClr val="6554C0"/>
          </a:solidFill>
          <a:ln w="12700">
            <a:solidFill>
              <a:srgbClr val="6554C0"/>
            </a:solidFill>
            <a:prstDash val="solid"/>
          </a:ln>
        </p:spPr>
      </p:sp>
      <p:sp>
        <p:nvSpPr>
          <p:cNvPr id="18" name="Text 16"/>
          <p:cNvSpPr/>
          <p:nvPr/>
        </p:nvSpPr>
        <p:spPr>
          <a:xfrm>
            <a:off x="5138928" y="2633472"/>
            <a:ext cx="3566160" cy="256032"/>
          </a:xfrm>
          <a:prstGeom prst="rect">
            <a:avLst/>
          </a:prstGeom>
          <a:noFill/>
          <a:ln/>
        </p:spPr>
        <p:txBody>
          <a:bodyPr wrap="square" lIns="0" tIns="0" rIns="0" bIns="0" rtlCol="0" anchor="ctr"/>
          <a:lstStyle/>
          <a:p>
            <a:pPr marL="0" indent="0">
              <a:buNone/>
            </a:pPr>
            <a:r>
              <a:rPr lang="en-US" sz="1500" b="1" dirty="0">
                <a:solidFill>
                  <a:srgbClr val="0B3558"/>
                </a:solidFill>
              </a:rPr>
              <a:t>Sentence Transformers</a:t>
            </a:r>
            <a:endParaRPr lang="en-US" sz="1500" dirty="0"/>
          </a:p>
        </p:txBody>
      </p:sp>
      <p:sp>
        <p:nvSpPr>
          <p:cNvPr id="19" name="Text 17"/>
          <p:cNvSpPr/>
          <p:nvPr/>
        </p:nvSpPr>
        <p:spPr>
          <a:xfrm>
            <a:off x="5138928" y="2999232"/>
            <a:ext cx="3538728" cy="164592"/>
          </a:xfrm>
          <a:prstGeom prst="rect">
            <a:avLst/>
          </a:prstGeom>
          <a:noFill/>
          <a:ln/>
        </p:spPr>
        <p:txBody>
          <a:bodyPr wrap="square" lIns="0" tIns="0" rIns="0" bIns="0" rtlCol="0" anchor="t">
            <a:normAutofit lnSpcReduction="10000"/>
          </a:bodyPr>
          <a:lstStyle/>
          <a:p>
            <a:pPr marL="0" indent="0">
              <a:buNone/>
            </a:pPr>
            <a:r>
              <a:rPr lang="en-US" sz="1150" dirty="0">
                <a:solidFill>
                  <a:srgbClr val="667085"/>
                </a:solidFill>
              </a:rPr>
              <a:t>Embeddings</a:t>
            </a:r>
            <a:endParaRPr lang="en-US" sz="1150" dirty="0"/>
          </a:p>
        </p:txBody>
      </p:sp>
      <p:sp>
        <p:nvSpPr>
          <p:cNvPr id="20" name="Shape 18"/>
          <p:cNvSpPr/>
          <p:nvPr/>
        </p:nvSpPr>
        <p:spPr>
          <a:xfrm>
            <a:off x="731520" y="3520440"/>
            <a:ext cx="3886200" cy="822960"/>
          </a:xfrm>
          <a:prstGeom prst="roundRect">
            <a:avLst>
              <a:gd name="adj" fmla="val 8889"/>
            </a:avLst>
          </a:prstGeom>
          <a:solidFill>
            <a:srgbClr val="FFFFFF"/>
          </a:solidFill>
          <a:ln w="12700">
            <a:solidFill>
              <a:srgbClr val="D8DEE7"/>
            </a:solidFill>
            <a:prstDash val="solid"/>
          </a:ln>
        </p:spPr>
      </p:sp>
      <p:sp>
        <p:nvSpPr>
          <p:cNvPr id="21" name="Shape 19"/>
          <p:cNvSpPr/>
          <p:nvPr/>
        </p:nvSpPr>
        <p:spPr>
          <a:xfrm>
            <a:off x="731520" y="3520440"/>
            <a:ext cx="64008" cy="822960"/>
          </a:xfrm>
          <a:prstGeom prst="rect">
            <a:avLst/>
          </a:prstGeom>
          <a:solidFill>
            <a:srgbClr val="167D7F"/>
          </a:solidFill>
          <a:ln w="12700">
            <a:solidFill>
              <a:srgbClr val="167D7F"/>
            </a:solidFill>
            <a:prstDash val="solid"/>
          </a:ln>
        </p:spPr>
      </p:sp>
      <p:sp>
        <p:nvSpPr>
          <p:cNvPr id="22" name="Text 20"/>
          <p:cNvSpPr/>
          <p:nvPr/>
        </p:nvSpPr>
        <p:spPr>
          <a:xfrm>
            <a:off x="932688" y="3685032"/>
            <a:ext cx="3566160" cy="256032"/>
          </a:xfrm>
          <a:prstGeom prst="rect">
            <a:avLst/>
          </a:prstGeom>
          <a:noFill/>
          <a:ln/>
        </p:spPr>
        <p:txBody>
          <a:bodyPr wrap="square" lIns="0" tIns="0" rIns="0" bIns="0" rtlCol="0" anchor="ctr"/>
          <a:lstStyle/>
          <a:p>
            <a:pPr marL="0" indent="0">
              <a:buNone/>
            </a:pPr>
            <a:r>
              <a:rPr lang="en-US" sz="1500" b="1" dirty="0">
                <a:solidFill>
                  <a:srgbClr val="0B3558"/>
                </a:solidFill>
              </a:rPr>
              <a:t>scikit-learn</a:t>
            </a:r>
            <a:endParaRPr lang="en-US" sz="1500" dirty="0"/>
          </a:p>
        </p:txBody>
      </p:sp>
      <p:sp>
        <p:nvSpPr>
          <p:cNvPr id="23" name="Text 21"/>
          <p:cNvSpPr/>
          <p:nvPr/>
        </p:nvSpPr>
        <p:spPr>
          <a:xfrm>
            <a:off x="932688" y="4050792"/>
            <a:ext cx="3538728" cy="164592"/>
          </a:xfrm>
          <a:prstGeom prst="rect">
            <a:avLst/>
          </a:prstGeom>
          <a:noFill/>
          <a:ln/>
        </p:spPr>
        <p:txBody>
          <a:bodyPr wrap="square" lIns="0" tIns="0" rIns="0" bIns="0" rtlCol="0" anchor="t">
            <a:normAutofit lnSpcReduction="10000"/>
          </a:bodyPr>
          <a:lstStyle/>
          <a:p>
            <a:pPr marL="0" indent="0">
              <a:buNone/>
            </a:pPr>
            <a:r>
              <a:rPr lang="en-US" sz="1150" dirty="0">
                <a:solidFill>
                  <a:srgbClr val="667085"/>
                </a:solidFill>
              </a:rPr>
              <a:t>Cosine similarity retrieval</a:t>
            </a:r>
            <a:endParaRPr lang="en-US" sz="1150" dirty="0"/>
          </a:p>
        </p:txBody>
      </p:sp>
      <p:sp>
        <p:nvSpPr>
          <p:cNvPr id="24" name="Shape 22"/>
          <p:cNvSpPr/>
          <p:nvPr/>
        </p:nvSpPr>
        <p:spPr>
          <a:xfrm>
            <a:off x="4937760" y="3520440"/>
            <a:ext cx="3886200" cy="822960"/>
          </a:xfrm>
          <a:prstGeom prst="roundRect">
            <a:avLst>
              <a:gd name="adj" fmla="val 8889"/>
            </a:avLst>
          </a:prstGeom>
          <a:solidFill>
            <a:srgbClr val="FFFFFF"/>
          </a:solidFill>
          <a:ln w="12700">
            <a:solidFill>
              <a:srgbClr val="D8DEE7"/>
            </a:solidFill>
            <a:prstDash val="solid"/>
          </a:ln>
        </p:spPr>
      </p:sp>
      <p:sp>
        <p:nvSpPr>
          <p:cNvPr id="25" name="Shape 23"/>
          <p:cNvSpPr/>
          <p:nvPr/>
        </p:nvSpPr>
        <p:spPr>
          <a:xfrm>
            <a:off x="4937760" y="3520440"/>
            <a:ext cx="64008" cy="822960"/>
          </a:xfrm>
          <a:prstGeom prst="rect">
            <a:avLst/>
          </a:prstGeom>
          <a:solidFill>
            <a:srgbClr val="6554C0"/>
          </a:solidFill>
          <a:ln w="12700">
            <a:solidFill>
              <a:srgbClr val="6554C0"/>
            </a:solidFill>
            <a:prstDash val="solid"/>
          </a:ln>
        </p:spPr>
      </p:sp>
      <p:sp>
        <p:nvSpPr>
          <p:cNvPr id="26" name="Text 24"/>
          <p:cNvSpPr/>
          <p:nvPr/>
        </p:nvSpPr>
        <p:spPr>
          <a:xfrm>
            <a:off x="5138928" y="3685032"/>
            <a:ext cx="3566160" cy="256032"/>
          </a:xfrm>
          <a:prstGeom prst="rect">
            <a:avLst/>
          </a:prstGeom>
          <a:noFill/>
          <a:ln/>
        </p:spPr>
        <p:txBody>
          <a:bodyPr wrap="square" lIns="0" tIns="0" rIns="0" bIns="0" rtlCol="0" anchor="ctr"/>
          <a:lstStyle/>
          <a:p>
            <a:pPr marL="0" indent="0">
              <a:buNone/>
            </a:pPr>
            <a:r>
              <a:rPr lang="en-US" sz="1500" b="1" dirty="0">
                <a:solidFill>
                  <a:srgbClr val="0B3558"/>
                </a:solidFill>
              </a:rPr>
              <a:t>Gradio</a:t>
            </a:r>
            <a:endParaRPr lang="en-US" sz="1500" dirty="0"/>
          </a:p>
        </p:txBody>
      </p:sp>
      <p:sp>
        <p:nvSpPr>
          <p:cNvPr id="27" name="Text 25"/>
          <p:cNvSpPr/>
          <p:nvPr/>
        </p:nvSpPr>
        <p:spPr>
          <a:xfrm>
            <a:off x="5138928" y="4050792"/>
            <a:ext cx="3538728" cy="164592"/>
          </a:xfrm>
          <a:prstGeom prst="rect">
            <a:avLst/>
          </a:prstGeom>
          <a:noFill/>
          <a:ln/>
        </p:spPr>
        <p:txBody>
          <a:bodyPr wrap="square" lIns="0" tIns="0" rIns="0" bIns="0" rtlCol="0" anchor="t">
            <a:normAutofit lnSpcReduction="10000"/>
          </a:bodyPr>
          <a:lstStyle/>
          <a:p>
            <a:pPr marL="0" indent="0">
              <a:buNone/>
            </a:pPr>
            <a:r>
              <a:rPr lang="en-US" sz="1150" dirty="0">
                <a:solidFill>
                  <a:srgbClr val="667085"/>
                </a:solidFill>
              </a:rPr>
              <a:t>Interactive demo UI</a:t>
            </a:r>
            <a:endParaRPr lang="en-US" sz="1150" dirty="0"/>
          </a:p>
        </p:txBody>
      </p:sp>
      <p:sp>
        <p:nvSpPr>
          <p:cNvPr id="28" name="Shape 26"/>
          <p:cNvSpPr/>
          <p:nvPr/>
        </p:nvSpPr>
        <p:spPr>
          <a:xfrm>
            <a:off x="731520" y="4572000"/>
            <a:ext cx="3886200" cy="822960"/>
          </a:xfrm>
          <a:prstGeom prst="roundRect">
            <a:avLst>
              <a:gd name="adj" fmla="val 8889"/>
            </a:avLst>
          </a:prstGeom>
          <a:solidFill>
            <a:srgbClr val="FFFFFF"/>
          </a:solidFill>
          <a:ln w="12700">
            <a:solidFill>
              <a:srgbClr val="D8DEE7"/>
            </a:solidFill>
            <a:prstDash val="solid"/>
          </a:ln>
        </p:spPr>
      </p:sp>
      <p:sp>
        <p:nvSpPr>
          <p:cNvPr id="29" name="Shape 27"/>
          <p:cNvSpPr/>
          <p:nvPr/>
        </p:nvSpPr>
        <p:spPr>
          <a:xfrm>
            <a:off x="731520" y="4572000"/>
            <a:ext cx="64008" cy="822960"/>
          </a:xfrm>
          <a:prstGeom prst="rect">
            <a:avLst/>
          </a:prstGeom>
          <a:solidFill>
            <a:srgbClr val="167D7F"/>
          </a:solidFill>
          <a:ln w="12700">
            <a:solidFill>
              <a:srgbClr val="167D7F"/>
            </a:solidFill>
            <a:prstDash val="solid"/>
          </a:ln>
        </p:spPr>
      </p:sp>
      <p:sp>
        <p:nvSpPr>
          <p:cNvPr id="30" name="Text 28"/>
          <p:cNvSpPr/>
          <p:nvPr/>
        </p:nvSpPr>
        <p:spPr>
          <a:xfrm>
            <a:off x="932688" y="4736592"/>
            <a:ext cx="3566160" cy="256032"/>
          </a:xfrm>
          <a:prstGeom prst="rect">
            <a:avLst/>
          </a:prstGeom>
          <a:noFill/>
          <a:ln/>
        </p:spPr>
        <p:txBody>
          <a:bodyPr wrap="square" lIns="0" tIns="0" rIns="0" bIns="0" rtlCol="0" anchor="ctr"/>
          <a:lstStyle/>
          <a:p>
            <a:pPr marL="0" indent="0">
              <a:buNone/>
            </a:pPr>
            <a:r>
              <a:rPr lang="en-US" sz="1500" b="1" dirty="0">
                <a:solidFill>
                  <a:srgbClr val="0B3558"/>
                </a:solidFill>
              </a:rPr>
              <a:t>MCP</a:t>
            </a:r>
            <a:endParaRPr lang="en-US" sz="1500" dirty="0"/>
          </a:p>
        </p:txBody>
      </p:sp>
      <p:sp>
        <p:nvSpPr>
          <p:cNvPr id="31" name="Text 29"/>
          <p:cNvSpPr/>
          <p:nvPr/>
        </p:nvSpPr>
        <p:spPr>
          <a:xfrm>
            <a:off x="932688" y="5102352"/>
            <a:ext cx="3538728" cy="164592"/>
          </a:xfrm>
          <a:prstGeom prst="rect">
            <a:avLst/>
          </a:prstGeom>
          <a:noFill/>
          <a:ln/>
        </p:spPr>
        <p:txBody>
          <a:bodyPr wrap="square" lIns="0" tIns="0" rIns="0" bIns="0" rtlCol="0" anchor="t">
            <a:normAutofit lnSpcReduction="10000"/>
          </a:bodyPr>
          <a:lstStyle/>
          <a:p>
            <a:pPr marL="0" indent="0">
              <a:buNone/>
            </a:pPr>
            <a:r>
              <a:rPr lang="en-US" sz="1150" dirty="0">
                <a:solidFill>
                  <a:srgbClr val="667085"/>
                </a:solidFill>
              </a:rPr>
              <a:t>Minimal standardized tool interface</a:t>
            </a:r>
            <a:endParaRPr lang="en-US" sz="1150" dirty="0"/>
          </a:p>
        </p:txBody>
      </p:sp>
      <p:sp>
        <p:nvSpPr>
          <p:cNvPr id="32" name="Shape 30"/>
          <p:cNvSpPr/>
          <p:nvPr/>
        </p:nvSpPr>
        <p:spPr>
          <a:xfrm>
            <a:off x="8732520" y="1417320"/>
            <a:ext cx="2743200" cy="3977640"/>
          </a:xfrm>
          <a:prstGeom prst="roundRect">
            <a:avLst/>
          </a:prstGeom>
          <a:solidFill>
            <a:srgbClr val="0B3558"/>
          </a:solidFill>
          <a:ln w="12700">
            <a:solidFill>
              <a:srgbClr val="0B3558"/>
            </a:solidFill>
            <a:prstDash val="solid"/>
          </a:ln>
        </p:spPr>
      </p:sp>
      <p:sp>
        <p:nvSpPr>
          <p:cNvPr id="33" name="Text 31"/>
          <p:cNvSpPr/>
          <p:nvPr/>
        </p:nvSpPr>
        <p:spPr>
          <a:xfrm>
            <a:off x="9189720" y="1828800"/>
            <a:ext cx="1828800" cy="365760"/>
          </a:xfrm>
          <a:prstGeom prst="rect">
            <a:avLst/>
          </a:prstGeom>
          <a:noFill/>
          <a:ln/>
        </p:spPr>
        <p:txBody>
          <a:bodyPr wrap="square" lIns="0" tIns="0" rIns="0" bIns="0" rtlCol="0" anchor="ctr"/>
          <a:lstStyle/>
          <a:p>
            <a:pPr marL="0" indent="0" algn="ctr">
              <a:buNone/>
            </a:pPr>
            <a:r>
              <a:rPr lang="en-US" sz="2500" b="1" dirty="0">
                <a:solidFill>
                  <a:srgbClr val="FFFFFF"/>
                </a:solidFill>
              </a:rPr>
              <a:t>GitHub</a:t>
            </a:r>
            <a:endParaRPr lang="en-US" sz="2500" dirty="0"/>
          </a:p>
        </p:txBody>
      </p:sp>
      <p:sp>
        <p:nvSpPr>
          <p:cNvPr id="34" name="Text 32"/>
          <p:cNvSpPr/>
          <p:nvPr/>
        </p:nvSpPr>
        <p:spPr>
          <a:xfrm>
            <a:off x="9098280" y="2514600"/>
            <a:ext cx="2011680" cy="1600200"/>
          </a:xfrm>
          <a:prstGeom prst="rect">
            <a:avLst/>
          </a:prstGeom>
          <a:noFill/>
          <a:ln/>
        </p:spPr>
        <p:txBody>
          <a:bodyPr wrap="square" lIns="0" tIns="0" rIns="0" bIns="0" rtlCol="0" anchor="ctr">
            <a:normAutofit/>
          </a:bodyPr>
          <a:lstStyle/>
          <a:p>
            <a:pPr marL="0" indent="0" algn="ctr">
              <a:buNone/>
            </a:pPr>
            <a:r>
              <a:rPr lang="en-US" sz="1400" dirty="0">
                <a:solidFill>
                  <a:srgbClr val="E6EDF3"/>
                </a:solidFill>
              </a:rPr>
              <a:t>README</a:t>
            </a:r>
            <a:endParaRPr lang="en-US" sz="1400" dirty="0"/>
          </a:p>
          <a:p>
            <a:pPr marL="0" indent="0" algn="ctr">
              <a:buNone/>
            </a:pPr>
            <a:r>
              <a:rPr lang="en-US" sz="1400" dirty="0">
                <a:solidFill>
                  <a:srgbClr val="E6EDF3"/>
                </a:solidFill>
              </a:rPr>
              <a:t>Architecture diagram</a:t>
            </a:r>
            <a:endParaRPr lang="en-US" sz="1400" dirty="0"/>
          </a:p>
          <a:p>
            <a:pPr marL="0" indent="0" algn="ctr">
              <a:buNone/>
            </a:pPr>
            <a:r>
              <a:rPr lang="en-US" sz="1400" dirty="0">
                <a:solidFill>
                  <a:srgbClr val="E6EDF3"/>
                </a:solidFill>
              </a:rPr>
              <a:t>Executable notebook</a:t>
            </a:r>
            <a:endParaRPr lang="en-US" sz="1400" dirty="0"/>
          </a:p>
          <a:p>
            <a:pPr marL="0" indent="0" algn="ctr">
              <a:buNone/>
            </a:pPr>
            <a:r>
              <a:rPr lang="en-US" sz="1400" dirty="0">
                <a:solidFill>
                  <a:srgbClr val="E6EDF3"/>
                </a:solidFill>
              </a:rPr>
              <a:t>Demo screenshots</a:t>
            </a:r>
            <a:endParaRPr lang="en-US" sz="1400" dirty="0"/>
          </a:p>
          <a:p>
            <a:pPr marL="0" indent="0" algn="ctr">
              <a:buNone/>
            </a:pPr>
            <a:r>
              <a:rPr lang="en-US" sz="1400" dirty="0">
                <a:solidFill>
                  <a:srgbClr val="E6EDF3"/>
                </a:solidFill>
              </a:rPr>
              <a:t>Safety &amp; limitations</a:t>
            </a:r>
            <a:endParaRPr lang="en-US" sz="1400" dirty="0"/>
          </a:p>
        </p:txBody>
      </p:sp>
      <p:sp>
        <p:nvSpPr>
          <p:cNvPr id="35" name="Text 33"/>
          <p:cNvSpPr/>
          <p:nvPr/>
        </p:nvSpPr>
        <p:spPr>
          <a:xfrm>
            <a:off x="8915400" y="4526280"/>
            <a:ext cx="2377440" cy="502920"/>
          </a:xfrm>
          <a:prstGeom prst="rect">
            <a:avLst/>
          </a:prstGeom>
          <a:noFill/>
          <a:ln/>
        </p:spPr>
        <p:txBody>
          <a:bodyPr wrap="square" lIns="0" tIns="0" rIns="0" bIns="0" rtlCol="0" anchor="ctr">
            <a:normAutofit/>
          </a:bodyPr>
          <a:lstStyle/>
          <a:p>
            <a:pPr algn="ctr"/>
            <a:r>
              <a:rPr lang="en-US" sz="1050" dirty="0">
                <a:solidFill>
                  <a:schemeClr val="bg1"/>
                </a:solidFill>
              </a:rPr>
              <a:t>https://</a:t>
            </a:r>
            <a:r>
              <a:rPr lang="en-US" sz="1050" dirty="0" err="1">
                <a:solidFill>
                  <a:schemeClr val="bg1"/>
                </a:solidFill>
              </a:rPr>
              <a:t>github.com</a:t>
            </a:r>
            <a:r>
              <a:rPr lang="en-US" sz="1050" dirty="0">
                <a:solidFill>
                  <a:schemeClr val="bg1"/>
                </a:solidFill>
              </a:rPr>
              <a:t>/</a:t>
            </a:r>
            <a:r>
              <a:rPr lang="en-US" sz="1050" dirty="0" err="1">
                <a:solidFill>
                  <a:schemeClr val="bg1"/>
                </a:solidFill>
              </a:rPr>
              <a:t>saanjaanarahman</a:t>
            </a:r>
            <a:r>
              <a:rPr lang="en-US" sz="1050" dirty="0">
                <a:solidFill>
                  <a:schemeClr val="bg1"/>
                </a:solidFill>
              </a:rPr>
              <a:t>/prior-authorization-appeals-agent</a:t>
            </a:r>
          </a:p>
        </p:txBody>
      </p:sp>
      <p:sp>
        <p:nvSpPr>
          <p:cNvPr id="36" name="Text 34"/>
          <p:cNvSpPr/>
          <p:nvPr/>
        </p:nvSpPr>
        <p:spPr>
          <a:xfrm>
            <a:off x="777240" y="5806440"/>
            <a:ext cx="7589520" cy="320040"/>
          </a:xfrm>
          <a:prstGeom prst="rect">
            <a:avLst/>
          </a:prstGeom>
          <a:noFill/>
          <a:ln/>
        </p:spPr>
        <p:txBody>
          <a:bodyPr wrap="square" lIns="0" tIns="0" rIns="0" bIns="0" rtlCol="0" anchor="ctr"/>
          <a:lstStyle/>
          <a:p>
            <a:pPr marL="0" indent="0">
              <a:buNone/>
            </a:pPr>
            <a:r>
              <a:rPr lang="en-US" sz="1350" dirty="0">
                <a:solidFill>
                  <a:srgbClr val="667085"/>
                </a:solidFill>
              </a:rPr>
              <a:t>Credentials are stored through Colab Secrets rather than hard-coded in the notebook.</a:t>
            </a:r>
            <a:endParaRPr lang="en-US" sz="1350" dirty="0"/>
          </a:p>
        </p:txBody>
      </p:sp>
      <p:sp>
        <p:nvSpPr>
          <p:cNvPr id="37"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CA3AF"/>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1064240" cy="438912"/>
          </a:xfrm>
          <a:prstGeom prst="rect">
            <a:avLst/>
          </a:prstGeom>
          <a:noFill/>
          <a:ln/>
        </p:spPr>
        <p:txBody>
          <a:bodyPr wrap="square" lIns="0" tIns="0" rIns="0" bIns="0" rtlCol="0" anchor="ctr"/>
          <a:lstStyle/>
          <a:p>
            <a:pPr marL="0" indent="0">
              <a:buNone/>
            </a:pPr>
            <a:r>
              <a:rPr lang="en-US" sz="2700" b="1" dirty="0">
                <a:solidFill>
                  <a:srgbClr val="0B3558"/>
                </a:solidFill>
              </a:rPr>
              <a:t>Closing reflection</a:t>
            </a:r>
            <a:endParaRPr lang="en-US" sz="2700" dirty="0"/>
          </a:p>
        </p:txBody>
      </p:sp>
      <p:sp>
        <p:nvSpPr>
          <p:cNvPr id="3" name="Text 1"/>
          <p:cNvSpPr/>
          <p:nvPr/>
        </p:nvSpPr>
        <p:spPr>
          <a:xfrm>
            <a:off x="566928" y="822960"/>
            <a:ext cx="10789920" cy="320040"/>
          </a:xfrm>
          <a:prstGeom prst="rect">
            <a:avLst/>
          </a:prstGeom>
          <a:noFill/>
          <a:ln/>
        </p:spPr>
        <p:txBody>
          <a:bodyPr wrap="square" lIns="0" tIns="0" rIns="0" bIns="0" rtlCol="0" anchor="ctr"/>
          <a:lstStyle/>
          <a:p>
            <a:pPr marL="0" indent="0">
              <a:buNone/>
            </a:pPr>
            <a:r>
              <a:rPr lang="en-US" sz="1250" dirty="0">
                <a:solidFill>
                  <a:srgbClr val="667085"/>
                </a:solidFill>
              </a:rPr>
              <a:t>What worked, what I learned, and where I would take the system next</a:t>
            </a:r>
            <a:endParaRPr lang="en-US" sz="1250" dirty="0"/>
          </a:p>
        </p:txBody>
      </p:sp>
      <p:sp>
        <p:nvSpPr>
          <p:cNvPr id="4" name="Shape 2"/>
          <p:cNvSpPr/>
          <p:nvPr/>
        </p:nvSpPr>
        <p:spPr>
          <a:xfrm>
            <a:off x="685800" y="1371600"/>
            <a:ext cx="3429000" cy="3474720"/>
          </a:xfrm>
          <a:prstGeom prst="roundRect">
            <a:avLst>
              <a:gd name="adj" fmla="val 2133"/>
            </a:avLst>
          </a:prstGeom>
          <a:solidFill>
            <a:srgbClr val="FFFFFF"/>
          </a:solidFill>
          <a:ln w="12700">
            <a:solidFill>
              <a:srgbClr val="D8DEE7"/>
            </a:solidFill>
            <a:prstDash val="solid"/>
          </a:ln>
        </p:spPr>
      </p:sp>
      <p:sp>
        <p:nvSpPr>
          <p:cNvPr id="5" name="Shape 3"/>
          <p:cNvSpPr/>
          <p:nvPr/>
        </p:nvSpPr>
        <p:spPr>
          <a:xfrm>
            <a:off x="685800" y="1371600"/>
            <a:ext cx="64008" cy="3474720"/>
          </a:xfrm>
          <a:prstGeom prst="rect">
            <a:avLst/>
          </a:prstGeom>
          <a:solidFill>
            <a:srgbClr val="2E7D32"/>
          </a:solidFill>
          <a:ln w="12700">
            <a:solidFill>
              <a:srgbClr val="2E7D32"/>
            </a:solidFill>
            <a:prstDash val="solid"/>
          </a:ln>
        </p:spPr>
      </p:sp>
      <p:sp>
        <p:nvSpPr>
          <p:cNvPr id="6" name="Text 4"/>
          <p:cNvSpPr/>
          <p:nvPr/>
        </p:nvSpPr>
        <p:spPr>
          <a:xfrm>
            <a:off x="886968" y="1536192"/>
            <a:ext cx="3108960" cy="256032"/>
          </a:xfrm>
          <a:prstGeom prst="rect">
            <a:avLst/>
          </a:prstGeom>
          <a:noFill/>
          <a:ln/>
        </p:spPr>
        <p:txBody>
          <a:bodyPr wrap="square" lIns="0" tIns="0" rIns="0" bIns="0" rtlCol="0" anchor="ctr"/>
          <a:lstStyle/>
          <a:p>
            <a:pPr marL="0" indent="0">
              <a:buNone/>
            </a:pPr>
            <a:r>
              <a:rPr lang="en-US" sz="1500" b="1" dirty="0">
                <a:solidFill>
                  <a:srgbClr val="0B3558"/>
                </a:solidFill>
              </a:rPr>
              <a:t>What worked</a:t>
            </a:r>
            <a:endParaRPr lang="en-US" sz="1500" dirty="0"/>
          </a:p>
        </p:txBody>
      </p:sp>
      <p:sp>
        <p:nvSpPr>
          <p:cNvPr id="7" name="Text 5"/>
          <p:cNvSpPr/>
          <p:nvPr/>
        </p:nvSpPr>
        <p:spPr>
          <a:xfrm>
            <a:off x="886968" y="1901952"/>
            <a:ext cx="3081528" cy="2816352"/>
          </a:xfrm>
          <a:prstGeom prst="rect">
            <a:avLst/>
          </a:prstGeom>
          <a:noFill/>
          <a:ln/>
        </p:spPr>
        <p:txBody>
          <a:bodyPr wrap="square" lIns="0" tIns="0" rIns="0" bIns="0" rtlCol="0" anchor="t">
            <a:normAutofit/>
          </a:bodyPr>
          <a:lstStyle/>
          <a:p>
            <a:pPr marL="0" indent="0">
              <a:buNone/>
            </a:pPr>
            <a:r>
              <a:rPr lang="en-US" sz="1150" dirty="0">
                <a:solidFill>
                  <a:srgbClr val="667085"/>
                </a:solidFill>
              </a:rPr>
              <a:t>Combining RAG, multi-path reasoning, critic evaluation, deterministic controls, and verification created a system that could both act and abstain.</a:t>
            </a:r>
            <a:endParaRPr lang="en-US" sz="1150" dirty="0"/>
          </a:p>
        </p:txBody>
      </p:sp>
      <p:sp>
        <p:nvSpPr>
          <p:cNvPr id="8" name="Shape 6"/>
          <p:cNvSpPr/>
          <p:nvPr/>
        </p:nvSpPr>
        <p:spPr>
          <a:xfrm>
            <a:off x="4389120" y="1371600"/>
            <a:ext cx="3429000" cy="3474720"/>
          </a:xfrm>
          <a:prstGeom prst="roundRect">
            <a:avLst>
              <a:gd name="adj" fmla="val 2133"/>
            </a:avLst>
          </a:prstGeom>
          <a:solidFill>
            <a:srgbClr val="FFFFFF"/>
          </a:solidFill>
          <a:ln w="12700">
            <a:solidFill>
              <a:srgbClr val="D8DEE7"/>
            </a:solidFill>
            <a:prstDash val="solid"/>
          </a:ln>
        </p:spPr>
      </p:sp>
      <p:sp>
        <p:nvSpPr>
          <p:cNvPr id="9" name="Shape 7"/>
          <p:cNvSpPr/>
          <p:nvPr/>
        </p:nvSpPr>
        <p:spPr>
          <a:xfrm>
            <a:off x="4389120" y="1371600"/>
            <a:ext cx="64008" cy="3474720"/>
          </a:xfrm>
          <a:prstGeom prst="rect">
            <a:avLst/>
          </a:prstGeom>
          <a:solidFill>
            <a:srgbClr val="6554C0"/>
          </a:solidFill>
          <a:ln w="12700">
            <a:solidFill>
              <a:srgbClr val="6554C0"/>
            </a:solidFill>
            <a:prstDash val="solid"/>
          </a:ln>
        </p:spPr>
      </p:sp>
      <p:sp>
        <p:nvSpPr>
          <p:cNvPr id="10" name="Text 8"/>
          <p:cNvSpPr/>
          <p:nvPr/>
        </p:nvSpPr>
        <p:spPr>
          <a:xfrm>
            <a:off x="4590288" y="1536192"/>
            <a:ext cx="3108960" cy="256032"/>
          </a:xfrm>
          <a:prstGeom prst="rect">
            <a:avLst/>
          </a:prstGeom>
          <a:noFill/>
          <a:ln/>
        </p:spPr>
        <p:txBody>
          <a:bodyPr wrap="square" lIns="0" tIns="0" rIns="0" bIns="0" rtlCol="0" anchor="ctr"/>
          <a:lstStyle/>
          <a:p>
            <a:pPr marL="0" indent="0">
              <a:buNone/>
            </a:pPr>
            <a:r>
              <a:rPr lang="en-US" sz="1500" b="1" dirty="0">
                <a:solidFill>
                  <a:srgbClr val="0B3558"/>
                </a:solidFill>
              </a:rPr>
              <a:t>What I learned</a:t>
            </a:r>
            <a:endParaRPr lang="en-US" sz="1500" dirty="0"/>
          </a:p>
        </p:txBody>
      </p:sp>
      <p:sp>
        <p:nvSpPr>
          <p:cNvPr id="11" name="Text 9"/>
          <p:cNvSpPr/>
          <p:nvPr/>
        </p:nvSpPr>
        <p:spPr>
          <a:xfrm>
            <a:off x="4590288" y="1901952"/>
            <a:ext cx="3081528" cy="2816352"/>
          </a:xfrm>
          <a:prstGeom prst="rect">
            <a:avLst/>
          </a:prstGeom>
          <a:noFill/>
          <a:ln/>
        </p:spPr>
        <p:txBody>
          <a:bodyPr wrap="square" lIns="0" tIns="0" rIns="0" bIns="0" rtlCol="0" anchor="t">
            <a:normAutofit/>
          </a:bodyPr>
          <a:lstStyle/>
          <a:p>
            <a:pPr marL="0" indent="0">
              <a:buNone/>
            </a:pPr>
            <a:r>
              <a:rPr lang="en-US" sz="1150" dirty="0">
                <a:solidFill>
                  <a:srgbClr val="667085"/>
                </a:solidFill>
              </a:rPr>
              <a:t>Agentic AI is less about adding more agents and more about designing state, routing, tools, termination conditions, and boundaries around probabilistic reasoning.</a:t>
            </a:r>
            <a:endParaRPr lang="en-US" sz="1150" dirty="0"/>
          </a:p>
        </p:txBody>
      </p:sp>
      <p:sp>
        <p:nvSpPr>
          <p:cNvPr id="12" name="Shape 10"/>
          <p:cNvSpPr/>
          <p:nvPr/>
        </p:nvSpPr>
        <p:spPr>
          <a:xfrm>
            <a:off x="8092440" y="1371600"/>
            <a:ext cx="3429000" cy="3474720"/>
          </a:xfrm>
          <a:prstGeom prst="roundRect">
            <a:avLst>
              <a:gd name="adj" fmla="val 2133"/>
            </a:avLst>
          </a:prstGeom>
          <a:solidFill>
            <a:srgbClr val="FFFFFF"/>
          </a:solidFill>
          <a:ln w="12700">
            <a:solidFill>
              <a:srgbClr val="D8DEE7"/>
            </a:solidFill>
            <a:prstDash val="solid"/>
          </a:ln>
        </p:spPr>
      </p:sp>
      <p:sp>
        <p:nvSpPr>
          <p:cNvPr id="13" name="Shape 11"/>
          <p:cNvSpPr/>
          <p:nvPr/>
        </p:nvSpPr>
        <p:spPr>
          <a:xfrm>
            <a:off x="8092440" y="1371600"/>
            <a:ext cx="64008" cy="3474720"/>
          </a:xfrm>
          <a:prstGeom prst="rect">
            <a:avLst/>
          </a:prstGeom>
          <a:solidFill>
            <a:srgbClr val="C47F00"/>
          </a:solidFill>
          <a:ln w="12700">
            <a:solidFill>
              <a:srgbClr val="C47F00"/>
            </a:solidFill>
            <a:prstDash val="solid"/>
          </a:ln>
        </p:spPr>
      </p:sp>
      <p:sp>
        <p:nvSpPr>
          <p:cNvPr id="14" name="Text 12"/>
          <p:cNvSpPr/>
          <p:nvPr/>
        </p:nvSpPr>
        <p:spPr>
          <a:xfrm>
            <a:off x="8293608" y="1536192"/>
            <a:ext cx="3108960" cy="256032"/>
          </a:xfrm>
          <a:prstGeom prst="rect">
            <a:avLst/>
          </a:prstGeom>
          <a:noFill/>
          <a:ln/>
        </p:spPr>
        <p:txBody>
          <a:bodyPr wrap="square" lIns="0" tIns="0" rIns="0" bIns="0" rtlCol="0" anchor="ctr"/>
          <a:lstStyle/>
          <a:p>
            <a:pPr marL="0" indent="0">
              <a:buNone/>
            </a:pPr>
            <a:r>
              <a:rPr lang="en-US" sz="1500" b="1" dirty="0">
                <a:solidFill>
                  <a:srgbClr val="0B3558"/>
                </a:solidFill>
              </a:rPr>
              <a:t>What I would improve</a:t>
            </a:r>
            <a:endParaRPr lang="en-US" sz="1500" dirty="0"/>
          </a:p>
        </p:txBody>
      </p:sp>
      <p:sp>
        <p:nvSpPr>
          <p:cNvPr id="15" name="Text 13"/>
          <p:cNvSpPr/>
          <p:nvPr/>
        </p:nvSpPr>
        <p:spPr>
          <a:xfrm>
            <a:off x="8293608" y="1901952"/>
            <a:ext cx="3081528" cy="2816352"/>
          </a:xfrm>
          <a:prstGeom prst="rect">
            <a:avLst/>
          </a:prstGeom>
          <a:noFill/>
          <a:ln/>
        </p:spPr>
        <p:txBody>
          <a:bodyPr wrap="square" lIns="0" tIns="0" rIns="0" bIns="0" rtlCol="0" anchor="t">
            <a:normAutofit/>
          </a:bodyPr>
          <a:lstStyle/>
          <a:p>
            <a:pPr marL="0" indent="0">
              <a:buNone/>
            </a:pPr>
            <a:r>
              <a:rPr lang="en-US" sz="1150" dirty="0">
                <a:solidFill>
                  <a:srgbClr val="667085"/>
                </a:solidFill>
              </a:rPr>
              <a:t>Richer conditional outcomes between nodes, broader policy/version validation, stronger observability and calibration, and larger-scale evaluation before real-world use.</a:t>
            </a:r>
            <a:endParaRPr lang="en-US" sz="1150" dirty="0"/>
          </a:p>
        </p:txBody>
      </p:sp>
      <p:sp>
        <p:nvSpPr>
          <p:cNvPr id="16" name="Shape 14"/>
          <p:cNvSpPr/>
          <p:nvPr/>
        </p:nvSpPr>
        <p:spPr>
          <a:xfrm>
            <a:off x="1005840" y="5257800"/>
            <a:ext cx="10149840" cy="731520"/>
          </a:xfrm>
          <a:prstGeom prst="roundRect">
            <a:avLst/>
          </a:prstGeom>
          <a:solidFill>
            <a:srgbClr val="0B3558"/>
          </a:solidFill>
          <a:ln w="12700">
            <a:solidFill>
              <a:srgbClr val="0B3558"/>
            </a:solidFill>
            <a:prstDash val="solid"/>
          </a:ln>
        </p:spPr>
      </p:sp>
      <p:sp>
        <p:nvSpPr>
          <p:cNvPr id="17" name="Text 15"/>
          <p:cNvSpPr/>
          <p:nvPr/>
        </p:nvSpPr>
        <p:spPr>
          <a:xfrm>
            <a:off x="1325880" y="5468112"/>
            <a:ext cx="9509760" cy="274320"/>
          </a:xfrm>
          <a:prstGeom prst="rect">
            <a:avLst/>
          </a:prstGeom>
          <a:noFill/>
          <a:ln/>
        </p:spPr>
        <p:txBody>
          <a:bodyPr wrap="square" lIns="0" tIns="0" rIns="0" bIns="0" rtlCol="0" anchor="ctr"/>
          <a:lstStyle/>
          <a:p>
            <a:pPr marL="0" indent="0" algn="ctr">
              <a:buNone/>
            </a:pPr>
            <a:r>
              <a:rPr lang="en-US" sz="1600" b="1" dirty="0">
                <a:solidFill>
                  <a:srgbClr val="FFFFFF"/>
                </a:solidFill>
              </a:rPr>
              <a:t>The goal is not autonomous appeal generation-it is safer, evidence-grounded decision support with human accountability.</a:t>
            </a:r>
            <a:endParaRPr lang="en-US" sz="1600" dirty="0"/>
          </a:p>
        </p:txBody>
      </p:sp>
      <p:sp>
        <p:nvSpPr>
          <p:cNvPr id="25" name="Slide Number Placeholder 0"/>
          <p:cNvSpPr>
            <a:spLocks noGrp="1"/>
          </p:cNvSpPr>
          <p:nvPr>
            <p:ph type="sldNum" sz="quarter" idx="4294967295"/>
          </p:nvPr>
        </p:nvSpPr>
        <p:spPr>
          <a:xfrm>
            <a:off x="117500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9CA3AF"/>
                </a:solidFill>
              </a:defRPr>
            </a:lvl1pPr>
          </a:lstStyle>
          <a:p>
            <a:pPr algn="l"/>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1224</Words>
  <Application>Microsoft Macintosh PowerPoint</Application>
  <PresentationFormat>Widescreen</PresentationFormat>
  <Paragraphs>123</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Carnegie Mellon University Executive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Prior Authorization &amp; Insurance Appeals Advocate</dc:title>
  <dc:subject>Agentic AI Capstone Presentation</dc:subject>
  <dc:creator>Saanjaana Rahman</dc:creator>
  <cp:lastModifiedBy>Microsoft Office User</cp:lastModifiedBy>
  <cp:revision>4</cp:revision>
  <dcterms:created xsi:type="dcterms:W3CDTF">2026-09-06T15:00:22Z</dcterms:created>
  <dcterms:modified xsi:type="dcterms:W3CDTF">2026-09-06T15:16:48Z</dcterms:modified>
</cp:coreProperties>
</file>